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 with the project goal: classify insect pest images using deep learning models inspired by the paper, compare our experiments with the paper, and show the deployed 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the intro short. Explain that the project connects agriculture, computer vision, and a simple user application.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story map for the defense. Later slides explain the models inside the model block.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paper's main idea is not one model only. It uses complementary models and combines them with ensemble learning.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simple words: ResNet learns strong features, RAN focuses attention, FPN handles scale, MMAL finds object parts, ensemble combines strengths.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the team implemented a practical subset of the paper and organized experiments in Colab/Kaggle notebooks.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that the paper trained longer, while our provided logs are 10-epoch runs. This matters when comparing results.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AlexNet is a simpler baseline. It gives a starting point before moving to deeper residual models.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ResNet50 is our strongest completed IP102 result from the supplied logs.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FPN did not beat our ResNet50 baseline on IP102 in the provided run, but it still learned steadily.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D0 result is very close to the paper's FPN result on D0.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claim an accuracy if it is not final. Explain the architecture and show that the notebook exists.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MMAL-Net is important because insects can be visually similar. It focuses on object regions and small parts.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 the completed numeric results and be transparent about models that still need final metrics.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the comparison fair: paper uses full experiment settings and ensemble, while our completed logs are shorter runs.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strongest comparison slide: our D0 FPN result is almost equal to the paper's FPN result.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honest in the defense: the link exists, but automated testing reached Streamlit authentication redirects. Open it live in the browser if access is available.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helps the group present a confident narrative without overclaiming.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as backup if examiners ask where the code and notebooks 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Invite questions. Be ready to answer about model choice, result gaps, deployment status, and future ensemble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colab.research.google.com/drive/1ktw3-JJAc-8LyvjQzVyRX9gV2bW9bIWP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colab.research.google.com/drive/1DKKesScd1g5nzw02esenjG8f6bETFJkK?authuser=1" TargetMode="External"/><Relationship Id="rId1" Type="http://schemas.openxmlformats.org/officeDocument/2006/relationships/image" Target="../media/image-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colab.research.google.com/drive/1qZPNGzH862IGcN7bnlFPAo1BNa6YGP5C?usp=sharing" TargetMode="External"/><Relationship Id="rId1" Type="http://schemas.openxmlformats.org/officeDocument/2006/relationships/image" Target="../media/image-10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kaggle.com/code/mohamedtareqfarouq/resnet-pcsa-mask-advran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kaggle.com/code/to7a12/notebookc8f9f91bf6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hyperlink" Target="https://abdelrahmansa04-insect-pest-classification-app-ap6y2v.streamlit.app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hieuung/Improving-Insect-Pest-Recognition-by-EnsemblingMultiple-Convolutional-Neural-Network-basedModels/tree/master" TargetMode="External"/><Relationship Id="rId2" Type="http://schemas.openxmlformats.org/officeDocument/2006/relationships/hyperlink" Target="https://github.com/Abdelrahmansa04/Insect-Pest-Classification" TargetMode="External"/><Relationship Id="rId3" Type="http://schemas.openxmlformats.org/officeDocument/2006/relationships/hyperlink" Target="https://abdelrahmansa04-insect-pest-classification-app-ap6y2v.streamlit.app/" TargetMode="External"/><Relationship Id="rId4" Type="http://schemas.openxmlformats.org/officeDocument/2006/relationships/hyperlink" Target="https://arxiv.org/abs/2107.12189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C16"/>
          </a:solidFill>
          <a:ln w="12700">
            <a:solidFill>
              <a:srgbClr val="071C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0">
            <a:off x="-914400" y="0"/>
            <a:ext cx="5669280" cy="6858000"/>
          </a:xfrm>
          <a:prstGeom prst="chevron">
            <a:avLst/>
          </a:prstGeom>
          <a:solidFill>
            <a:srgbClr val="0B6B49">
              <a:alpha val="32000"/>
            </a:srgbClr>
          </a:solidFill>
          <a:ln w="12700">
            <a:solidFill>
              <a:srgbClr val="0B6B4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-1280160"/>
            <a:ext cx="4754880" cy="4754880"/>
          </a:xfrm>
          <a:prstGeom prst="arc">
            <a:avLst/>
          </a:prstGeom>
          <a:solidFill>
            <a:srgbClr val="8FE1AE">
              <a:alpha val="12000"/>
            </a:srgbClr>
          </a:solidFill>
          <a:ln w="12700">
            <a:solidFill>
              <a:srgbClr val="8FE1AE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2918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FE1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Graduation Project Defense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0652760" y="32918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B6C9BE"/>
                </a:solidFill>
              </a:rPr>
              <a:t>01 / 20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40080" y="11430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6F2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Insect Pest Classification Using Deep Learning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658368" y="214884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B6C9BE"/>
                </a:solidFill>
              </a:rPr>
              <a:t>Paper reproduction, model comparison, and Streamlit deployment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58368" y="4617720"/>
            <a:ext cx="1078992" cy="256032"/>
          </a:xfrm>
          <a:prstGeom prst="roundRect">
            <a:avLst>
              <a:gd name="adj" fmla="val 28571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8FE1AE">
                <a:alpha val="5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4681728"/>
            <a:ext cx="10789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6F2E8"/>
                </a:solidFill>
              </a:rPr>
              <a:t>to7a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1984248" y="4617720"/>
            <a:ext cx="1078992" cy="256032"/>
          </a:xfrm>
          <a:prstGeom prst="roundRect">
            <a:avLst>
              <a:gd name="adj" fmla="val 28571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8FE1AE">
                <a:alpha val="5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84248" y="4681728"/>
            <a:ext cx="10789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6F2E8"/>
                </a:solidFill>
              </a:rPr>
              <a:t>tareq</a:t>
            </a:r>
            <a:endParaRPr lang="en-US" sz="860" dirty="0"/>
          </a:p>
        </p:txBody>
      </p:sp>
      <p:sp>
        <p:nvSpPr>
          <p:cNvPr id="13" name="Shape 11"/>
          <p:cNvSpPr/>
          <p:nvPr/>
        </p:nvSpPr>
        <p:spPr>
          <a:xfrm>
            <a:off x="3310128" y="4617720"/>
            <a:ext cx="1078992" cy="256032"/>
          </a:xfrm>
          <a:prstGeom prst="roundRect">
            <a:avLst>
              <a:gd name="adj" fmla="val 28571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8FE1AE">
                <a:alpha val="5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10128" y="4681728"/>
            <a:ext cx="10789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6F2E8"/>
                </a:solidFill>
              </a:rPr>
              <a:t>joo</a:t>
            </a:r>
            <a:endParaRPr lang="en-US" sz="860" dirty="0"/>
          </a:p>
        </p:txBody>
      </p:sp>
      <p:sp>
        <p:nvSpPr>
          <p:cNvPr id="15" name="Shape 13"/>
          <p:cNvSpPr/>
          <p:nvPr/>
        </p:nvSpPr>
        <p:spPr>
          <a:xfrm>
            <a:off x="658368" y="5020056"/>
            <a:ext cx="1078992" cy="256032"/>
          </a:xfrm>
          <a:prstGeom prst="roundRect">
            <a:avLst>
              <a:gd name="adj" fmla="val 28571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8FE1AE">
                <a:alpha val="5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5084064"/>
            <a:ext cx="10789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6F2E8"/>
                </a:solidFill>
              </a:rPr>
              <a:t>saeed</a:t>
            </a:r>
            <a:endParaRPr lang="en-US" sz="860" dirty="0"/>
          </a:p>
        </p:txBody>
      </p:sp>
      <p:sp>
        <p:nvSpPr>
          <p:cNvPr id="17" name="Shape 15"/>
          <p:cNvSpPr/>
          <p:nvPr/>
        </p:nvSpPr>
        <p:spPr>
          <a:xfrm>
            <a:off x="1984248" y="5020056"/>
            <a:ext cx="1078992" cy="256032"/>
          </a:xfrm>
          <a:prstGeom prst="roundRect">
            <a:avLst>
              <a:gd name="adj" fmla="val 28571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8FE1AE">
                <a:alpha val="5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984248" y="5084064"/>
            <a:ext cx="10789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6F2E8"/>
                </a:solidFill>
              </a:rPr>
              <a:t>hoss</a:t>
            </a:r>
            <a:endParaRPr lang="en-US" sz="860" dirty="0"/>
          </a:p>
        </p:txBody>
      </p:sp>
      <p:sp>
        <p:nvSpPr>
          <p:cNvPr id="19" name="Shape 17"/>
          <p:cNvSpPr/>
          <p:nvPr/>
        </p:nvSpPr>
        <p:spPr>
          <a:xfrm>
            <a:off x="3310128" y="5020056"/>
            <a:ext cx="1078992" cy="256032"/>
          </a:xfrm>
          <a:prstGeom prst="roundRect">
            <a:avLst>
              <a:gd name="adj" fmla="val 28571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8FE1AE">
                <a:alpha val="5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10128" y="5084064"/>
            <a:ext cx="10789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6F2E8"/>
                </a:solidFill>
              </a:rPr>
              <a:t>zoz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6675120" y="1280160"/>
            <a:ext cx="4160520" cy="548640"/>
          </a:xfrm>
          <a:prstGeom prst="roundRect">
            <a:avLst>
              <a:gd name="adj" fmla="val 13333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8FE1AE">
                <a:alpha val="4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39712" y="1408176"/>
            <a:ext cx="292608" cy="292608"/>
          </a:xfrm>
          <a:prstGeom prst="ellipse">
            <a:avLst/>
          </a:prstGeom>
          <a:solidFill>
            <a:srgbClr val="8FE1AE"/>
          </a:solidFill>
          <a:ln w="12700">
            <a:solidFill>
              <a:srgbClr val="8FE1A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39712" y="1472184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71C16"/>
                </a:solidFill>
              </a:rPr>
              <a:t>1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7269480" y="1444752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F6F2E8"/>
                </a:solidFill>
              </a:rPr>
              <a:t>Input image</a:t>
            </a:r>
            <a:endParaRPr lang="en-US" sz="1280" dirty="0"/>
          </a:p>
        </p:txBody>
      </p:sp>
      <p:sp>
        <p:nvSpPr>
          <p:cNvPr id="25" name="Shape 23"/>
          <p:cNvSpPr/>
          <p:nvPr/>
        </p:nvSpPr>
        <p:spPr>
          <a:xfrm>
            <a:off x="6675120" y="2139696"/>
            <a:ext cx="4160520" cy="548640"/>
          </a:xfrm>
          <a:prstGeom prst="roundRect">
            <a:avLst>
              <a:gd name="adj" fmla="val 13333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8FE1AE">
                <a:alpha val="4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39712" y="2267712"/>
            <a:ext cx="292608" cy="292608"/>
          </a:xfrm>
          <a:prstGeom prst="ellipse">
            <a:avLst/>
          </a:prstGeom>
          <a:solidFill>
            <a:srgbClr val="8FE1AE"/>
          </a:solidFill>
          <a:ln w="12700">
            <a:solidFill>
              <a:srgbClr val="8FE1A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39712" y="2331720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71C16"/>
                </a:solidFill>
              </a:rPr>
              <a:t>2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7269480" y="2304288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F6F2E8"/>
                </a:solidFill>
              </a:rPr>
              <a:t>CNN models</a:t>
            </a:r>
            <a:endParaRPr lang="en-US" sz="1280" dirty="0"/>
          </a:p>
        </p:txBody>
      </p:sp>
      <p:sp>
        <p:nvSpPr>
          <p:cNvPr id="29" name="Shape 27"/>
          <p:cNvSpPr/>
          <p:nvPr/>
        </p:nvSpPr>
        <p:spPr>
          <a:xfrm>
            <a:off x="6675120" y="2999232"/>
            <a:ext cx="4160520" cy="548640"/>
          </a:xfrm>
          <a:prstGeom prst="roundRect">
            <a:avLst>
              <a:gd name="adj" fmla="val 13333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8FE1AE">
                <a:alpha val="4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839712" y="3127248"/>
            <a:ext cx="292608" cy="292608"/>
          </a:xfrm>
          <a:prstGeom prst="ellipse">
            <a:avLst/>
          </a:prstGeom>
          <a:solidFill>
            <a:srgbClr val="8FE1AE"/>
          </a:solidFill>
          <a:ln w="12700">
            <a:solidFill>
              <a:srgbClr val="8FE1A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39712" y="3191256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71C16"/>
                </a:solidFill>
              </a:rPr>
              <a:t>3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7269480" y="3163824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F6F2E8"/>
                </a:solidFill>
              </a:rPr>
              <a:t>Comparison</a:t>
            </a:r>
            <a:endParaRPr lang="en-US" sz="1280" dirty="0"/>
          </a:p>
        </p:txBody>
      </p:sp>
      <p:sp>
        <p:nvSpPr>
          <p:cNvPr id="33" name="Shape 31"/>
          <p:cNvSpPr/>
          <p:nvPr/>
        </p:nvSpPr>
        <p:spPr>
          <a:xfrm>
            <a:off x="6675120" y="3858768"/>
            <a:ext cx="4160520" cy="548640"/>
          </a:xfrm>
          <a:prstGeom prst="roundRect">
            <a:avLst>
              <a:gd name="adj" fmla="val 13333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8FE1AE">
                <a:alpha val="4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839712" y="3986784"/>
            <a:ext cx="292608" cy="292608"/>
          </a:xfrm>
          <a:prstGeom prst="ellipse">
            <a:avLst/>
          </a:prstGeom>
          <a:solidFill>
            <a:srgbClr val="8FE1AE"/>
          </a:solidFill>
          <a:ln w="12700">
            <a:solidFill>
              <a:srgbClr val="8FE1A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39712" y="4050792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71C16"/>
                </a:solidFill>
              </a:rPr>
              <a:t>4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7269480" y="4023360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F6F2E8"/>
                </a:solidFill>
              </a:rPr>
              <a:t>Deployment</a:t>
            </a:r>
            <a:endParaRPr lang="en-US" sz="1280" dirty="0"/>
          </a:p>
        </p:txBody>
      </p:sp>
    </p:spTree>
  </p:cSld>
  <p:transition spd="med">
    <p:push dir="l"/>
  </p:transition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C16"/>
          </a:solidFill>
          <a:ln w="12700">
            <a:solidFill>
              <a:srgbClr val="071C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0">
            <a:off x="-914400" y="0"/>
            <a:ext cx="5669280" cy="6858000"/>
          </a:xfrm>
          <a:prstGeom prst="chevron">
            <a:avLst/>
          </a:prstGeom>
          <a:solidFill>
            <a:srgbClr val="0B6B49">
              <a:alpha val="32000"/>
            </a:srgbClr>
          </a:solidFill>
          <a:ln w="12700">
            <a:solidFill>
              <a:srgbClr val="0B6B4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-1280160"/>
            <a:ext cx="4754880" cy="4754880"/>
          </a:xfrm>
          <a:prstGeom prst="arc">
            <a:avLst/>
          </a:prstGeom>
          <a:solidFill>
            <a:srgbClr val="8FE1AE">
              <a:alpha val="12000"/>
            </a:srgbClr>
          </a:solidFill>
          <a:ln w="12700">
            <a:solidFill>
              <a:srgbClr val="8FE1AE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2918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FE1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Intro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0652760" y="32918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B6C9BE"/>
                </a:solidFill>
              </a:rPr>
              <a:t>02 / 20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40080" y="914400"/>
            <a:ext cx="5669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6F2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problem are we solving?</a:t>
            </a:r>
            <a:endParaRPr lang="en-US" sz="3100" dirty="0"/>
          </a:p>
        </p:txBody>
      </p:sp>
      <p:sp>
        <p:nvSpPr>
          <p:cNvPr id="8" name="Shape 6"/>
          <p:cNvSpPr/>
          <p:nvPr/>
        </p:nvSpPr>
        <p:spPr>
          <a:xfrm>
            <a:off x="713232" y="2587752"/>
            <a:ext cx="73152" cy="73152"/>
          </a:xfrm>
          <a:prstGeom prst="ellipse">
            <a:avLst/>
          </a:prstGeom>
          <a:solidFill>
            <a:srgbClr val="C5F26D"/>
          </a:solidFill>
          <a:ln w="12700">
            <a:solidFill>
              <a:srgbClr val="C5F26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7824" y="2514600"/>
            <a:ext cx="516636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F6F2E8"/>
                </a:solidFill>
              </a:rPr>
              <a:t>Pests damage crops and reduce yield.</a:t>
            </a:r>
            <a:endParaRPr lang="en-US" sz="1380" dirty="0"/>
          </a:p>
        </p:txBody>
      </p:sp>
      <p:sp>
        <p:nvSpPr>
          <p:cNvPr id="10" name="Shape 8"/>
          <p:cNvSpPr/>
          <p:nvPr/>
        </p:nvSpPr>
        <p:spPr>
          <a:xfrm>
            <a:off x="713232" y="2980944"/>
            <a:ext cx="73152" cy="73152"/>
          </a:xfrm>
          <a:prstGeom prst="ellipse">
            <a:avLst/>
          </a:prstGeom>
          <a:solidFill>
            <a:srgbClr val="C5F26D"/>
          </a:solidFill>
          <a:ln w="12700">
            <a:solidFill>
              <a:srgbClr val="C5F26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7824" y="2907792"/>
            <a:ext cx="516636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F6F2E8"/>
                </a:solidFill>
              </a:rPr>
              <a:t>Manual pest identification is slow and needs expertise.</a:t>
            </a:r>
            <a:endParaRPr lang="en-US" sz="1380" dirty="0"/>
          </a:p>
        </p:txBody>
      </p:sp>
      <p:sp>
        <p:nvSpPr>
          <p:cNvPr id="12" name="Shape 10"/>
          <p:cNvSpPr/>
          <p:nvPr/>
        </p:nvSpPr>
        <p:spPr>
          <a:xfrm>
            <a:off x="713232" y="3374136"/>
            <a:ext cx="73152" cy="73152"/>
          </a:xfrm>
          <a:prstGeom prst="ellipse">
            <a:avLst/>
          </a:prstGeom>
          <a:solidFill>
            <a:srgbClr val="C5F26D"/>
          </a:solidFill>
          <a:ln w="12700">
            <a:solidFill>
              <a:srgbClr val="C5F26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77824" y="3300984"/>
            <a:ext cx="516636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F6F2E8"/>
                </a:solidFill>
              </a:rPr>
              <a:t>Many insect classes look very similar.</a:t>
            </a:r>
            <a:endParaRPr lang="en-US" sz="1380" dirty="0"/>
          </a:p>
        </p:txBody>
      </p:sp>
      <p:sp>
        <p:nvSpPr>
          <p:cNvPr id="14" name="Shape 12"/>
          <p:cNvSpPr/>
          <p:nvPr/>
        </p:nvSpPr>
        <p:spPr>
          <a:xfrm>
            <a:off x="713232" y="3767328"/>
            <a:ext cx="73152" cy="73152"/>
          </a:xfrm>
          <a:prstGeom prst="ellipse">
            <a:avLst/>
          </a:prstGeom>
          <a:solidFill>
            <a:srgbClr val="C5F26D"/>
          </a:solidFill>
          <a:ln w="12700">
            <a:solidFill>
              <a:srgbClr val="C5F26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7824" y="3694176"/>
            <a:ext cx="516636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F6F2E8"/>
                </a:solidFill>
              </a:rPr>
              <a:t>Our goal is a practical image-based classifier.</a:t>
            </a:r>
            <a:endParaRPr lang="en-US" sz="1380" dirty="0"/>
          </a:p>
        </p:txBody>
      </p:sp>
      <p:sp>
        <p:nvSpPr>
          <p:cNvPr id="16" name="Shape 14"/>
          <p:cNvSpPr/>
          <p:nvPr/>
        </p:nvSpPr>
        <p:spPr>
          <a:xfrm>
            <a:off x="6537960" y="1133856"/>
            <a:ext cx="4297680" cy="548640"/>
          </a:xfrm>
          <a:prstGeom prst="roundRect">
            <a:avLst>
              <a:gd name="adj" fmla="val 13333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8FE1AE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02552" y="1261872"/>
            <a:ext cx="292608" cy="292608"/>
          </a:xfrm>
          <a:prstGeom prst="ellipse">
            <a:avLst/>
          </a:prstGeom>
          <a:solidFill>
            <a:srgbClr val="8FE1AE"/>
          </a:solidFill>
          <a:ln w="12700">
            <a:solidFill>
              <a:srgbClr val="8FE1A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02552" y="1325880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71C16"/>
                </a:solidFill>
              </a:rPr>
              <a:t>1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7132320" y="1298448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F6F2E8"/>
                </a:solidFill>
              </a:rPr>
              <a:t>Crop loss</a:t>
            </a:r>
            <a:endParaRPr lang="en-US" sz="1280" dirty="0"/>
          </a:p>
        </p:txBody>
      </p:sp>
      <p:sp>
        <p:nvSpPr>
          <p:cNvPr id="20" name="Shape 18"/>
          <p:cNvSpPr/>
          <p:nvPr/>
        </p:nvSpPr>
        <p:spPr>
          <a:xfrm>
            <a:off x="6537960" y="1993392"/>
            <a:ext cx="4297680" cy="548640"/>
          </a:xfrm>
          <a:prstGeom prst="roundRect">
            <a:avLst>
              <a:gd name="adj" fmla="val 13333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8FE1AE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02552" y="2121408"/>
            <a:ext cx="292608" cy="292608"/>
          </a:xfrm>
          <a:prstGeom prst="ellipse">
            <a:avLst/>
          </a:prstGeom>
          <a:solidFill>
            <a:srgbClr val="8FE1AE"/>
          </a:solidFill>
          <a:ln w="12700">
            <a:solidFill>
              <a:srgbClr val="8FE1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02552" y="2185416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71C16"/>
                </a:solidFill>
              </a:rPr>
              <a:t>2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7132320" y="2157984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F6F2E8"/>
                </a:solidFill>
              </a:rPr>
              <a:t>Visual similarity</a:t>
            </a:r>
            <a:endParaRPr lang="en-US" sz="1280" dirty="0"/>
          </a:p>
        </p:txBody>
      </p:sp>
      <p:sp>
        <p:nvSpPr>
          <p:cNvPr id="24" name="Shape 22"/>
          <p:cNvSpPr/>
          <p:nvPr/>
        </p:nvSpPr>
        <p:spPr>
          <a:xfrm>
            <a:off x="6537960" y="2852928"/>
            <a:ext cx="4297680" cy="548640"/>
          </a:xfrm>
          <a:prstGeom prst="roundRect">
            <a:avLst>
              <a:gd name="adj" fmla="val 13333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8FE1AE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702552" y="2980944"/>
            <a:ext cx="292608" cy="292608"/>
          </a:xfrm>
          <a:prstGeom prst="ellipse">
            <a:avLst/>
          </a:prstGeom>
          <a:solidFill>
            <a:srgbClr val="8FE1AE"/>
          </a:solidFill>
          <a:ln w="12700">
            <a:solidFill>
              <a:srgbClr val="8FE1A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02552" y="3044952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71C16"/>
                </a:solidFill>
              </a:rPr>
              <a:t>3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7132320" y="301752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F6F2E8"/>
                </a:solidFill>
              </a:rPr>
              <a:t>Slow manual ID</a:t>
            </a:r>
            <a:endParaRPr lang="en-US" sz="1280" dirty="0"/>
          </a:p>
        </p:txBody>
      </p:sp>
      <p:sp>
        <p:nvSpPr>
          <p:cNvPr id="28" name="Shape 26"/>
          <p:cNvSpPr/>
          <p:nvPr/>
        </p:nvSpPr>
        <p:spPr>
          <a:xfrm>
            <a:off x="6537960" y="3712464"/>
            <a:ext cx="4297680" cy="548640"/>
          </a:xfrm>
          <a:prstGeom prst="roundRect">
            <a:avLst>
              <a:gd name="adj" fmla="val 13333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8FE1AE">
                <a:alpha val="4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702552" y="3840480"/>
            <a:ext cx="292608" cy="292608"/>
          </a:xfrm>
          <a:prstGeom prst="ellipse">
            <a:avLst/>
          </a:prstGeom>
          <a:solidFill>
            <a:srgbClr val="8FE1AE"/>
          </a:solidFill>
          <a:ln w="12700">
            <a:solidFill>
              <a:srgbClr val="8FE1A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02552" y="3904488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71C16"/>
                </a:solidFill>
              </a:rPr>
              <a:t>4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7132320" y="3877056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F6F2E8"/>
                </a:solidFill>
              </a:rPr>
              <a:t>AI classifier</a:t>
            </a:r>
            <a:endParaRPr lang="en-US" sz="1280" dirty="0"/>
          </a:p>
        </p:txBody>
      </p:sp>
    </p:spTree>
  </p:cSld>
  <p:transition spd="med">
    <p:wipe dir="l"/>
  </p:transition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C16"/>
          </a:solidFill>
          <a:ln w="12700">
            <a:solidFill>
              <a:srgbClr val="071C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0">
            <a:off x="-914400" y="0"/>
            <a:ext cx="5669280" cy="6858000"/>
          </a:xfrm>
          <a:prstGeom prst="chevron">
            <a:avLst/>
          </a:prstGeom>
          <a:solidFill>
            <a:srgbClr val="0B6B49">
              <a:alpha val="32000"/>
            </a:srgbClr>
          </a:solidFill>
          <a:ln w="12700">
            <a:solidFill>
              <a:srgbClr val="0B6B4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-1280160"/>
            <a:ext cx="4754880" cy="4754880"/>
          </a:xfrm>
          <a:prstGeom prst="arc">
            <a:avLst/>
          </a:prstGeom>
          <a:solidFill>
            <a:srgbClr val="8FE1AE">
              <a:alpha val="12000"/>
            </a:srgbClr>
          </a:solidFill>
          <a:ln w="12700">
            <a:solidFill>
              <a:srgbClr val="8FE1AE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2918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FE1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Intro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0652760" y="32918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B6C9BE"/>
                </a:solidFill>
              </a:rPr>
              <a:t>03 / 20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40080" y="914400"/>
            <a:ext cx="5669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6F2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pipeline</a:t>
            </a:r>
            <a:endParaRPr lang="en-US" sz="3100" dirty="0"/>
          </a:p>
        </p:txBody>
      </p:sp>
      <p:sp>
        <p:nvSpPr>
          <p:cNvPr id="8" name="Shape 6"/>
          <p:cNvSpPr/>
          <p:nvPr/>
        </p:nvSpPr>
        <p:spPr>
          <a:xfrm>
            <a:off x="713232" y="2587752"/>
            <a:ext cx="73152" cy="73152"/>
          </a:xfrm>
          <a:prstGeom prst="ellipse">
            <a:avLst/>
          </a:prstGeom>
          <a:solidFill>
            <a:srgbClr val="C5F26D"/>
          </a:solidFill>
          <a:ln w="12700">
            <a:solidFill>
              <a:srgbClr val="C5F26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7824" y="2514600"/>
            <a:ext cx="516636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F6F2E8"/>
                </a:solidFill>
              </a:rPr>
              <a:t>Upload pest image.</a:t>
            </a:r>
            <a:endParaRPr lang="en-US" sz="1380" dirty="0"/>
          </a:p>
        </p:txBody>
      </p:sp>
      <p:sp>
        <p:nvSpPr>
          <p:cNvPr id="10" name="Shape 8"/>
          <p:cNvSpPr/>
          <p:nvPr/>
        </p:nvSpPr>
        <p:spPr>
          <a:xfrm>
            <a:off x="713232" y="2980944"/>
            <a:ext cx="73152" cy="73152"/>
          </a:xfrm>
          <a:prstGeom prst="ellipse">
            <a:avLst/>
          </a:prstGeom>
          <a:solidFill>
            <a:srgbClr val="C5F26D"/>
          </a:solidFill>
          <a:ln w="12700">
            <a:solidFill>
              <a:srgbClr val="C5F26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7824" y="2907792"/>
            <a:ext cx="516636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F6F2E8"/>
                </a:solidFill>
              </a:rPr>
              <a:t>Resize and normalize the image.</a:t>
            </a:r>
            <a:endParaRPr lang="en-US" sz="1380" dirty="0"/>
          </a:p>
        </p:txBody>
      </p:sp>
      <p:sp>
        <p:nvSpPr>
          <p:cNvPr id="12" name="Shape 10"/>
          <p:cNvSpPr/>
          <p:nvPr/>
        </p:nvSpPr>
        <p:spPr>
          <a:xfrm>
            <a:off x="713232" y="3374136"/>
            <a:ext cx="73152" cy="73152"/>
          </a:xfrm>
          <a:prstGeom prst="ellipse">
            <a:avLst/>
          </a:prstGeom>
          <a:solidFill>
            <a:srgbClr val="C5F26D"/>
          </a:solidFill>
          <a:ln w="12700">
            <a:solidFill>
              <a:srgbClr val="C5F26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77824" y="3300984"/>
            <a:ext cx="516636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F6F2E8"/>
                </a:solidFill>
              </a:rPr>
              <a:t>Run deep learning model.</a:t>
            </a:r>
            <a:endParaRPr lang="en-US" sz="1380" dirty="0"/>
          </a:p>
        </p:txBody>
      </p:sp>
      <p:sp>
        <p:nvSpPr>
          <p:cNvPr id="14" name="Shape 12"/>
          <p:cNvSpPr/>
          <p:nvPr/>
        </p:nvSpPr>
        <p:spPr>
          <a:xfrm>
            <a:off x="713232" y="3767328"/>
            <a:ext cx="73152" cy="73152"/>
          </a:xfrm>
          <a:prstGeom prst="ellipse">
            <a:avLst/>
          </a:prstGeom>
          <a:solidFill>
            <a:srgbClr val="C5F26D"/>
          </a:solidFill>
          <a:ln w="12700">
            <a:solidFill>
              <a:srgbClr val="C5F26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7824" y="3694176"/>
            <a:ext cx="516636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F6F2E8"/>
                </a:solidFill>
              </a:rPr>
              <a:t>Return predicted class and confidence.</a:t>
            </a:r>
            <a:endParaRPr lang="en-US" sz="1380" dirty="0"/>
          </a:p>
        </p:txBody>
      </p:sp>
      <p:sp>
        <p:nvSpPr>
          <p:cNvPr id="16" name="Shape 14"/>
          <p:cNvSpPr/>
          <p:nvPr/>
        </p:nvSpPr>
        <p:spPr>
          <a:xfrm>
            <a:off x="713232" y="4160520"/>
            <a:ext cx="73152" cy="73152"/>
          </a:xfrm>
          <a:prstGeom prst="ellipse">
            <a:avLst/>
          </a:prstGeom>
          <a:solidFill>
            <a:srgbClr val="C5F26D"/>
          </a:solidFill>
          <a:ln w="12700">
            <a:solidFill>
              <a:srgbClr val="C5F26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7824" y="4087368"/>
            <a:ext cx="516636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F6F2E8"/>
                </a:solidFill>
              </a:rPr>
              <a:t>Use deployment for real user testing.</a:t>
            </a:r>
            <a:endParaRPr lang="en-US" sz="1380" dirty="0"/>
          </a:p>
        </p:txBody>
      </p:sp>
      <p:sp>
        <p:nvSpPr>
          <p:cNvPr id="18" name="Shape 16"/>
          <p:cNvSpPr/>
          <p:nvPr/>
        </p:nvSpPr>
        <p:spPr>
          <a:xfrm>
            <a:off x="868680" y="2834640"/>
            <a:ext cx="1554480" cy="777240"/>
          </a:xfrm>
          <a:prstGeom prst="roundRect">
            <a:avLst>
              <a:gd name="adj" fmla="val 9412"/>
            </a:avLst>
          </a:prstGeom>
          <a:solidFill>
            <a:srgbClr val="FFFFFF">
              <a:alpha val="9000"/>
            </a:srgbClr>
          </a:solidFill>
          <a:ln w="12700">
            <a:solidFill>
              <a:srgbClr val="8FE1AE">
                <a:alpha val="46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" y="312724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6F2E8"/>
                </a:solidFill>
              </a:rPr>
              <a:t>Image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532888" y="3218688"/>
            <a:ext cx="320040" cy="0"/>
          </a:xfrm>
          <a:prstGeom prst="line">
            <a:avLst/>
          </a:prstGeom>
          <a:noFill/>
          <a:ln w="15240">
            <a:solidFill>
              <a:srgbClr val="C5F26D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2953512" y="2834640"/>
            <a:ext cx="1554480" cy="777240"/>
          </a:xfrm>
          <a:prstGeom prst="roundRect">
            <a:avLst>
              <a:gd name="adj" fmla="val 9412"/>
            </a:avLst>
          </a:prstGeom>
          <a:solidFill>
            <a:srgbClr val="FFFFFF">
              <a:alpha val="9000"/>
            </a:srgbClr>
          </a:solidFill>
          <a:ln w="12700">
            <a:solidFill>
              <a:srgbClr val="8FE1AE">
                <a:alpha val="46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044952" y="312724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6F2E8"/>
                </a:solidFill>
              </a:rPr>
              <a:t>Preprocess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617720" y="3218688"/>
            <a:ext cx="320040" cy="0"/>
          </a:xfrm>
          <a:prstGeom prst="line">
            <a:avLst/>
          </a:prstGeom>
          <a:noFill/>
          <a:ln w="15240">
            <a:solidFill>
              <a:srgbClr val="C5F26D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5038344" y="2834640"/>
            <a:ext cx="1554480" cy="777240"/>
          </a:xfrm>
          <a:prstGeom prst="roundRect">
            <a:avLst>
              <a:gd name="adj" fmla="val 9412"/>
            </a:avLst>
          </a:prstGeom>
          <a:solidFill>
            <a:srgbClr val="FFFFFF">
              <a:alpha val="9000"/>
            </a:srgbClr>
          </a:solidFill>
          <a:ln w="12700">
            <a:solidFill>
              <a:srgbClr val="8FE1AE">
                <a:alpha val="46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29784" y="312724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6F2E8"/>
                </a:solidFill>
              </a:rPr>
              <a:t>Model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702552" y="3218688"/>
            <a:ext cx="320040" cy="0"/>
          </a:xfrm>
          <a:prstGeom prst="line">
            <a:avLst/>
          </a:prstGeom>
          <a:noFill/>
          <a:ln w="15240">
            <a:solidFill>
              <a:srgbClr val="C5F26D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123176" y="2834640"/>
            <a:ext cx="1554480" cy="777240"/>
          </a:xfrm>
          <a:prstGeom prst="roundRect">
            <a:avLst>
              <a:gd name="adj" fmla="val 9412"/>
            </a:avLst>
          </a:prstGeom>
          <a:solidFill>
            <a:srgbClr val="FFFFFF">
              <a:alpha val="9000"/>
            </a:srgbClr>
          </a:solidFill>
          <a:ln w="12700">
            <a:solidFill>
              <a:srgbClr val="8FE1AE">
                <a:alpha val="46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14616" y="312724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6F2E8"/>
                </a:solidFill>
              </a:rPr>
              <a:t>Prediction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787384" y="3218688"/>
            <a:ext cx="320040" cy="0"/>
          </a:xfrm>
          <a:prstGeom prst="line">
            <a:avLst/>
          </a:prstGeom>
          <a:noFill/>
          <a:ln w="15240">
            <a:solidFill>
              <a:srgbClr val="C5F26D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9208008" y="2834640"/>
            <a:ext cx="1554480" cy="777240"/>
          </a:xfrm>
          <a:prstGeom prst="roundRect">
            <a:avLst>
              <a:gd name="adj" fmla="val 9412"/>
            </a:avLst>
          </a:prstGeom>
          <a:solidFill>
            <a:srgbClr val="FFFFFF">
              <a:alpha val="9000"/>
            </a:srgbClr>
          </a:solidFill>
          <a:ln w="12700">
            <a:solidFill>
              <a:srgbClr val="8FE1AE">
                <a:alpha val="46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299448" y="312724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6F2E8"/>
                </a:solidFill>
              </a:rPr>
              <a:t>App</a:t>
            </a:r>
            <a:endParaRPr lang="en-US" sz="1150" dirty="0"/>
          </a:p>
        </p:txBody>
      </p:sp>
    </p:spTree>
  </p:cSld>
  <p:transition spd="med">
    <p:fade/>
  </p:transition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C16"/>
          </a:solidFill>
          <a:ln w="12700">
            <a:solidFill>
              <a:srgbClr val="071C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0">
            <a:off x="-914400" y="0"/>
            <a:ext cx="5669280" cy="6858000"/>
          </a:xfrm>
          <a:prstGeom prst="chevron">
            <a:avLst/>
          </a:prstGeom>
          <a:solidFill>
            <a:srgbClr val="0B6B49">
              <a:alpha val="32000"/>
            </a:srgbClr>
          </a:solidFill>
          <a:ln w="12700">
            <a:solidFill>
              <a:srgbClr val="0B6B4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-1280160"/>
            <a:ext cx="4754880" cy="4754880"/>
          </a:xfrm>
          <a:prstGeom prst="arc">
            <a:avLst/>
          </a:prstGeom>
          <a:solidFill>
            <a:srgbClr val="8FE1AE">
              <a:alpha val="12000"/>
            </a:srgbClr>
          </a:solidFill>
          <a:ln w="12700">
            <a:solidFill>
              <a:srgbClr val="8FE1AE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2918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FE1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 Contribution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0652760" y="32918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B6C9BE"/>
                </a:solidFill>
              </a:rPr>
              <a:t>04 / 20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40080" y="914400"/>
            <a:ext cx="5669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6F2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the paper contributed</a:t>
            </a:r>
            <a:endParaRPr lang="en-US" sz="3100" dirty="0"/>
          </a:p>
        </p:txBody>
      </p:sp>
      <p:sp>
        <p:nvSpPr>
          <p:cNvPr id="8" name="Shape 6"/>
          <p:cNvSpPr/>
          <p:nvPr/>
        </p:nvSpPr>
        <p:spPr>
          <a:xfrm>
            <a:off x="713232" y="2587752"/>
            <a:ext cx="73152" cy="73152"/>
          </a:xfrm>
          <a:prstGeom prst="ellipse">
            <a:avLst/>
          </a:prstGeom>
          <a:solidFill>
            <a:srgbClr val="C5F26D"/>
          </a:solidFill>
          <a:ln w="12700">
            <a:solidFill>
              <a:srgbClr val="C5F26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7824" y="2514600"/>
            <a:ext cx="516636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F6F2E8"/>
                </a:solidFill>
              </a:rPr>
              <a:t>Compared several CNN-based models for insect recognition.</a:t>
            </a:r>
            <a:endParaRPr lang="en-US" sz="1380" dirty="0"/>
          </a:p>
        </p:txBody>
      </p:sp>
      <p:sp>
        <p:nvSpPr>
          <p:cNvPr id="10" name="Shape 8"/>
          <p:cNvSpPr/>
          <p:nvPr/>
        </p:nvSpPr>
        <p:spPr>
          <a:xfrm>
            <a:off x="713232" y="2980944"/>
            <a:ext cx="73152" cy="73152"/>
          </a:xfrm>
          <a:prstGeom prst="ellipse">
            <a:avLst/>
          </a:prstGeom>
          <a:solidFill>
            <a:srgbClr val="C5F26D"/>
          </a:solidFill>
          <a:ln w="12700">
            <a:solidFill>
              <a:srgbClr val="C5F26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7824" y="2907792"/>
            <a:ext cx="516636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F6F2E8"/>
                </a:solidFill>
              </a:rPr>
              <a:t>Used attention, feature pyramids, and fine-grained learning.</a:t>
            </a:r>
            <a:endParaRPr lang="en-US" sz="1380" dirty="0"/>
          </a:p>
        </p:txBody>
      </p:sp>
      <p:sp>
        <p:nvSpPr>
          <p:cNvPr id="12" name="Shape 10"/>
          <p:cNvSpPr/>
          <p:nvPr/>
        </p:nvSpPr>
        <p:spPr>
          <a:xfrm>
            <a:off x="713232" y="3374136"/>
            <a:ext cx="73152" cy="73152"/>
          </a:xfrm>
          <a:prstGeom prst="ellipse">
            <a:avLst/>
          </a:prstGeom>
          <a:solidFill>
            <a:srgbClr val="C5F26D"/>
          </a:solidFill>
          <a:ln w="12700">
            <a:solidFill>
              <a:srgbClr val="C5F26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77824" y="3300984"/>
            <a:ext cx="516636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F6F2E8"/>
                </a:solidFill>
              </a:rPr>
              <a:t>Combined model outputs using soft voting ensemble.</a:t>
            </a:r>
            <a:endParaRPr lang="en-US" sz="1380" dirty="0"/>
          </a:p>
        </p:txBody>
      </p:sp>
      <p:sp>
        <p:nvSpPr>
          <p:cNvPr id="14" name="Shape 12"/>
          <p:cNvSpPr/>
          <p:nvPr/>
        </p:nvSpPr>
        <p:spPr>
          <a:xfrm>
            <a:off x="713232" y="3767328"/>
            <a:ext cx="73152" cy="73152"/>
          </a:xfrm>
          <a:prstGeom prst="ellipse">
            <a:avLst/>
          </a:prstGeom>
          <a:solidFill>
            <a:srgbClr val="C5F26D"/>
          </a:solidFill>
          <a:ln w="12700">
            <a:solidFill>
              <a:srgbClr val="C5F26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7824" y="3694176"/>
            <a:ext cx="516636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F6F2E8"/>
                </a:solidFill>
              </a:rPr>
              <a:t>Evaluated on IP102 and D0 datasets.</a:t>
            </a:r>
            <a:endParaRPr lang="en-US" sz="1380" dirty="0"/>
          </a:p>
        </p:txBody>
      </p:sp>
      <p:sp>
        <p:nvSpPr>
          <p:cNvPr id="16" name="Text 14"/>
          <p:cNvSpPr/>
          <p:nvPr/>
        </p:nvSpPr>
        <p:spPr>
          <a:xfrm>
            <a:off x="749808" y="5349240"/>
            <a:ext cx="5257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D8C77A"/>
                </a:solidFill>
              </a:rPr>
              <a:t>Paper best accuracy: 74.13% on IP102 and 99.78% on D0.</a:t>
            </a:r>
            <a:endParaRPr lang="en-US" sz="1060" dirty="0"/>
          </a:p>
        </p:txBody>
      </p:sp>
      <p:sp>
        <p:nvSpPr>
          <p:cNvPr id="17" name="Shape 15"/>
          <p:cNvSpPr/>
          <p:nvPr/>
        </p:nvSpPr>
        <p:spPr>
          <a:xfrm>
            <a:off x="6537960" y="1133856"/>
            <a:ext cx="4297680" cy="548640"/>
          </a:xfrm>
          <a:prstGeom prst="roundRect">
            <a:avLst>
              <a:gd name="adj" fmla="val 13333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8FE1AE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702552" y="1261872"/>
            <a:ext cx="292608" cy="292608"/>
          </a:xfrm>
          <a:prstGeom prst="ellipse">
            <a:avLst/>
          </a:prstGeom>
          <a:solidFill>
            <a:srgbClr val="8FE1AE"/>
          </a:solidFill>
          <a:ln w="12700">
            <a:solidFill>
              <a:srgbClr val="8FE1A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02552" y="1325880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71C16"/>
                </a:solidFill>
              </a:rPr>
              <a:t>1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132320" y="1298448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F6F2E8"/>
                </a:solidFill>
              </a:rPr>
              <a:t>Attention</a:t>
            </a:r>
            <a:endParaRPr lang="en-US" sz="1280" dirty="0"/>
          </a:p>
        </p:txBody>
      </p:sp>
      <p:sp>
        <p:nvSpPr>
          <p:cNvPr id="21" name="Shape 19"/>
          <p:cNvSpPr/>
          <p:nvPr/>
        </p:nvSpPr>
        <p:spPr>
          <a:xfrm>
            <a:off x="6537960" y="1993392"/>
            <a:ext cx="4297680" cy="548640"/>
          </a:xfrm>
          <a:prstGeom prst="roundRect">
            <a:avLst>
              <a:gd name="adj" fmla="val 13333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8FE1AE">
                <a:alpha val="4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702552" y="2121408"/>
            <a:ext cx="292608" cy="292608"/>
          </a:xfrm>
          <a:prstGeom prst="ellipse">
            <a:avLst/>
          </a:prstGeom>
          <a:solidFill>
            <a:srgbClr val="8FE1AE"/>
          </a:solidFill>
          <a:ln w="12700">
            <a:solidFill>
              <a:srgbClr val="8FE1A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02552" y="2185416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71C16"/>
                </a:solidFill>
              </a:rPr>
              <a:t>2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7132320" y="2157984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F6F2E8"/>
                </a:solidFill>
              </a:rPr>
              <a:t>FPN</a:t>
            </a:r>
            <a:endParaRPr lang="en-US" sz="1280" dirty="0"/>
          </a:p>
        </p:txBody>
      </p:sp>
      <p:sp>
        <p:nvSpPr>
          <p:cNvPr id="25" name="Shape 23"/>
          <p:cNvSpPr/>
          <p:nvPr/>
        </p:nvSpPr>
        <p:spPr>
          <a:xfrm>
            <a:off x="6537960" y="2852928"/>
            <a:ext cx="4297680" cy="548640"/>
          </a:xfrm>
          <a:prstGeom prst="roundRect">
            <a:avLst>
              <a:gd name="adj" fmla="val 13333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8FE1AE">
                <a:alpha val="4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02552" y="2980944"/>
            <a:ext cx="292608" cy="292608"/>
          </a:xfrm>
          <a:prstGeom prst="ellipse">
            <a:avLst/>
          </a:prstGeom>
          <a:solidFill>
            <a:srgbClr val="8FE1AE"/>
          </a:solidFill>
          <a:ln w="12700">
            <a:solidFill>
              <a:srgbClr val="8FE1A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02552" y="3044952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71C16"/>
                </a:solidFill>
              </a:rPr>
              <a:t>3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7132320" y="301752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F6F2E8"/>
                </a:solidFill>
              </a:rPr>
              <a:t>MMAL-Net</a:t>
            </a:r>
            <a:endParaRPr lang="en-US" sz="1280" dirty="0"/>
          </a:p>
        </p:txBody>
      </p:sp>
      <p:sp>
        <p:nvSpPr>
          <p:cNvPr id="29" name="Shape 27"/>
          <p:cNvSpPr/>
          <p:nvPr/>
        </p:nvSpPr>
        <p:spPr>
          <a:xfrm>
            <a:off x="6537960" y="3712464"/>
            <a:ext cx="4297680" cy="548640"/>
          </a:xfrm>
          <a:prstGeom prst="roundRect">
            <a:avLst>
              <a:gd name="adj" fmla="val 13333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8FE1AE">
                <a:alpha val="4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702552" y="3840480"/>
            <a:ext cx="292608" cy="292608"/>
          </a:xfrm>
          <a:prstGeom prst="ellipse">
            <a:avLst/>
          </a:prstGeom>
          <a:solidFill>
            <a:srgbClr val="8FE1AE"/>
          </a:solidFill>
          <a:ln w="12700">
            <a:solidFill>
              <a:srgbClr val="8FE1A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02552" y="3904488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71C16"/>
                </a:solidFill>
              </a:rPr>
              <a:t>4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7132320" y="3877056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F6F2E8"/>
                </a:solidFill>
              </a:rPr>
              <a:t>Soft voting</a:t>
            </a:r>
            <a:endParaRPr lang="en-US" sz="1280" dirty="0"/>
          </a:p>
        </p:txBody>
      </p:sp>
    </p:spTree>
  </p:cSld>
  <p:transition spd="med">
    <p:push dir="l"/>
  </p:transition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C16"/>
          </a:solidFill>
          <a:ln w="12700">
            <a:solidFill>
              <a:srgbClr val="071C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0">
            <a:off x="-914400" y="0"/>
            <a:ext cx="5669280" cy="6858000"/>
          </a:xfrm>
          <a:prstGeom prst="chevron">
            <a:avLst/>
          </a:prstGeom>
          <a:solidFill>
            <a:srgbClr val="0B6B49">
              <a:alpha val="32000"/>
            </a:srgbClr>
          </a:solidFill>
          <a:ln w="12700">
            <a:solidFill>
              <a:srgbClr val="0B6B4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-1280160"/>
            <a:ext cx="4754880" cy="4754880"/>
          </a:xfrm>
          <a:prstGeom prst="arc">
            <a:avLst/>
          </a:prstGeom>
          <a:solidFill>
            <a:srgbClr val="8FE1AE">
              <a:alpha val="12000"/>
            </a:srgbClr>
          </a:solidFill>
          <a:ln w="12700">
            <a:solidFill>
              <a:srgbClr val="8FE1AE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2918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FE1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 Contribution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0652760" y="32918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B6C9BE"/>
                </a:solidFill>
              </a:rPr>
              <a:t>05 / 20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40080" y="914400"/>
            <a:ext cx="5669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6F2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Models used in the paper</a:t>
            </a:r>
            <a:endParaRPr lang="en-US" sz="3100" dirty="0"/>
          </a:p>
        </p:txBody>
      </p:sp>
      <p:sp>
        <p:nvSpPr>
          <p:cNvPr id="8" name="Shape 6"/>
          <p:cNvSpPr/>
          <p:nvPr/>
        </p:nvSpPr>
        <p:spPr>
          <a:xfrm>
            <a:off x="713232" y="2587752"/>
            <a:ext cx="73152" cy="73152"/>
          </a:xfrm>
          <a:prstGeom prst="ellipse">
            <a:avLst/>
          </a:prstGeom>
          <a:solidFill>
            <a:srgbClr val="C5F26D"/>
          </a:solidFill>
          <a:ln w="12700">
            <a:solidFill>
              <a:srgbClr val="C5F26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7824" y="2514600"/>
            <a:ext cx="516636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F6F2E8"/>
                </a:solidFill>
              </a:rPr>
              <a:t>ResNet50: strong CNN baseline.</a:t>
            </a:r>
            <a:endParaRPr lang="en-US" sz="1380" dirty="0"/>
          </a:p>
        </p:txBody>
      </p:sp>
      <p:sp>
        <p:nvSpPr>
          <p:cNvPr id="10" name="Shape 8"/>
          <p:cNvSpPr/>
          <p:nvPr/>
        </p:nvSpPr>
        <p:spPr>
          <a:xfrm>
            <a:off x="713232" y="2980944"/>
            <a:ext cx="73152" cy="73152"/>
          </a:xfrm>
          <a:prstGeom prst="ellipse">
            <a:avLst/>
          </a:prstGeom>
          <a:solidFill>
            <a:srgbClr val="C5F26D"/>
          </a:solidFill>
          <a:ln w="12700">
            <a:solidFill>
              <a:srgbClr val="C5F26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7824" y="2907792"/>
            <a:ext cx="516636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F6F2E8"/>
                </a:solidFill>
              </a:rPr>
              <a:t>RAN: attention model for important regions.</a:t>
            </a:r>
            <a:endParaRPr lang="en-US" sz="1380" dirty="0"/>
          </a:p>
        </p:txBody>
      </p:sp>
      <p:sp>
        <p:nvSpPr>
          <p:cNvPr id="12" name="Shape 10"/>
          <p:cNvSpPr/>
          <p:nvPr/>
        </p:nvSpPr>
        <p:spPr>
          <a:xfrm>
            <a:off x="713232" y="3374136"/>
            <a:ext cx="73152" cy="73152"/>
          </a:xfrm>
          <a:prstGeom prst="ellipse">
            <a:avLst/>
          </a:prstGeom>
          <a:solidFill>
            <a:srgbClr val="C5F26D"/>
          </a:solidFill>
          <a:ln w="12700">
            <a:solidFill>
              <a:srgbClr val="C5F26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77824" y="3300984"/>
            <a:ext cx="516636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F6F2E8"/>
                </a:solidFill>
              </a:rPr>
              <a:t>FPN: multi-scale feature extraction.</a:t>
            </a:r>
            <a:endParaRPr lang="en-US" sz="1380" dirty="0"/>
          </a:p>
        </p:txBody>
      </p:sp>
      <p:sp>
        <p:nvSpPr>
          <p:cNvPr id="14" name="Shape 12"/>
          <p:cNvSpPr/>
          <p:nvPr/>
        </p:nvSpPr>
        <p:spPr>
          <a:xfrm>
            <a:off x="713232" y="3767328"/>
            <a:ext cx="73152" cy="73152"/>
          </a:xfrm>
          <a:prstGeom prst="ellipse">
            <a:avLst/>
          </a:prstGeom>
          <a:solidFill>
            <a:srgbClr val="C5F26D"/>
          </a:solidFill>
          <a:ln w="12700">
            <a:solidFill>
              <a:srgbClr val="C5F26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7824" y="3694176"/>
            <a:ext cx="516636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F6F2E8"/>
                </a:solidFill>
              </a:rPr>
              <a:t>MMAL-Net: fine-grained object and part learning.</a:t>
            </a:r>
            <a:endParaRPr lang="en-US" sz="1380" dirty="0"/>
          </a:p>
        </p:txBody>
      </p:sp>
      <p:sp>
        <p:nvSpPr>
          <p:cNvPr id="16" name="Shape 14"/>
          <p:cNvSpPr/>
          <p:nvPr/>
        </p:nvSpPr>
        <p:spPr>
          <a:xfrm>
            <a:off x="713232" y="4160520"/>
            <a:ext cx="73152" cy="73152"/>
          </a:xfrm>
          <a:prstGeom prst="ellipse">
            <a:avLst/>
          </a:prstGeom>
          <a:solidFill>
            <a:srgbClr val="C5F26D"/>
          </a:solidFill>
          <a:ln w="12700">
            <a:solidFill>
              <a:srgbClr val="C5F26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7824" y="4087368"/>
            <a:ext cx="516636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F6F2E8"/>
                </a:solidFill>
              </a:rPr>
              <a:t>Ensemble: soft voting across model predictions.</a:t>
            </a:r>
            <a:endParaRPr lang="en-US" sz="1380" dirty="0"/>
          </a:p>
        </p:txBody>
      </p:sp>
      <p:sp>
        <p:nvSpPr>
          <p:cNvPr id="18" name="Shape 16"/>
          <p:cNvSpPr/>
          <p:nvPr/>
        </p:nvSpPr>
        <p:spPr>
          <a:xfrm>
            <a:off x="6537960" y="1133856"/>
            <a:ext cx="4297680" cy="548640"/>
          </a:xfrm>
          <a:prstGeom prst="roundRect">
            <a:avLst>
              <a:gd name="adj" fmla="val 13333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8FE1AE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702552" y="1261872"/>
            <a:ext cx="292608" cy="292608"/>
          </a:xfrm>
          <a:prstGeom prst="ellipse">
            <a:avLst/>
          </a:prstGeom>
          <a:solidFill>
            <a:srgbClr val="8FE1AE"/>
          </a:solidFill>
          <a:ln w="12700">
            <a:solidFill>
              <a:srgbClr val="8FE1A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02552" y="1325880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71C16"/>
                </a:solidFill>
              </a:rPr>
              <a:t>1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7132320" y="1298448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F6F2E8"/>
                </a:solidFill>
              </a:rPr>
              <a:t>ResNet50</a:t>
            </a:r>
            <a:endParaRPr lang="en-US" sz="1280" dirty="0"/>
          </a:p>
        </p:txBody>
      </p:sp>
      <p:sp>
        <p:nvSpPr>
          <p:cNvPr id="22" name="Shape 20"/>
          <p:cNvSpPr/>
          <p:nvPr/>
        </p:nvSpPr>
        <p:spPr>
          <a:xfrm>
            <a:off x="6537960" y="1993392"/>
            <a:ext cx="4297680" cy="548640"/>
          </a:xfrm>
          <a:prstGeom prst="roundRect">
            <a:avLst>
              <a:gd name="adj" fmla="val 13333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8FE1AE">
                <a:alpha val="4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02552" y="2121408"/>
            <a:ext cx="292608" cy="292608"/>
          </a:xfrm>
          <a:prstGeom prst="ellipse">
            <a:avLst/>
          </a:prstGeom>
          <a:solidFill>
            <a:srgbClr val="8FE1AE"/>
          </a:solidFill>
          <a:ln w="12700">
            <a:solidFill>
              <a:srgbClr val="8FE1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02552" y="2185416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71C16"/>
                </a:solidFill>
              </a:rPr>
              <a:t>2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132320" y="2157984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F6F2E8"/>
                </a:solidFill>
              </a:rPr>
              <a:t>RAN</a:t>
            </a:r>
            <a:endParaRPr lang="en-US" sz="1280" dirty="0"/>
          </a:p>
        </p:txBody>
      </p:sp>
      <p:sp>
        <p:nvSpPr>
          <p:cNvPr id="26" name="Shape 24"/>
          <p:cNvSpPr/>
          <p:nvPr/>
        </p:nvSpPr>
        <p:spPr>
          <a:xfrm>
            <a:off x="6537960" y="2852928"/>
            <a:ext cx="4297680" cy="548640"/>
          </a:xfrm>
          <a:prstGeom prst="roundRect">
            <a:avLst>
              <a:gd name="adj" fmla="val 13333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8FE1AE">
                <a:alpha val="4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702552" y="2980944"/>
            <a:ext cx="292608" cy="292608"/>
          </a:xfrm>
          <a:prstGeom prst="ellipse">
            <a:avLst/>
          </a:prstGeom>
          <a:solidFill>
            <a:srgbClr val="8FE1AE"/>
          </a:solidFill>
          <a:ln w="12700">
            <a:solidFill>
              <a:srgbClr val="8FE1A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02552" y="3044952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71C16"/>
                </a:solidFill>
              </a:rPr>
              <a:t>3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7132320" y="301752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F6F2E8"/>
                </a:solidFill>
              </a:rPr>
              <a:t>FPN</a:t>
            </a:r>
            <a:endParaRPr lang="en-US" sz="1280" dirty="0"/>
          </a:p>
        </p:txBody>
      </p:sp>
      <p:sp>
        <p:nvSpPr>
          <p:cNvPr id="30" name="Shape 28"/>
          <p:cNvSpPr/>
          <p:nvPr/>
        </p:nvSpPr>
        <p:spPr>
          <a:xfrm>
            <a:off x="6537960" y="3712464"/>
            <a:ext cx="4297680" cy="548640"/>
          </a:xfrm>
          <a:prstGeom prst="roundRect">
            <a:avLst>
              <a:gd name="adj" fmla="val 13333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8FE1AE">
                <a:alpha val="4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702552" y="3840480"/>
            <a:ext cx="292608" cy="292608"/>
          </a:xfrm>
          <a:prstGeom prst="ellipse">
            <a:avLst/>
          </a:prstGeom>
          <a:solidFill>
            <a:srgbClr val="8FE1AE"/>
          </a:solidFill>
          <a:ln w="12700">
            <a:solidFill>
              <a:srgbClr val="8FE1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02552" y="3904488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71C16"/>
                </a:solidFill>
              </a:rPr>
              <a:t>4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7132320" y="3877056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F6F2E8"/>
                </a:solidFill>
              </a:rPr>
              <a:t>MMAL-Net</a:t>
            </a:r>
            <a:endParaRPr lang="en-US" sz="1280" dirty="0"/>
          </a:p>
        </p:txBody>
      </p:sp>
      <p:sp>
        <p:nvSpPr>
          <p:cNvPr id="34" name="Shape 32"/>
          <p:cNvSpPr/>
          <p:nvPr/>
        </p:nvSpPr>
        <p:spPr>
          <a:xfrm>
            <a:off x="6537960" y="4572000"/>
            <a:ext cx="4297680" cy="548640"/>
          </a:xfrm>
          <a:prstGeom prst="roundRect">
            <a:avLst>
              <a:gd name="adj" fmla="val 13333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8FE1AE">
                <a:alpha val="4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02552" y="4700016"/>
            <a:ext cx="292608" cy="292608"/>
          </a:xfrm>
          <a:prstGeom prst="ellipse">
            <a:avLst/>
          </a:prstGeom>
          <a:solidFill>
            <a:srgbClr val="8FE1AE"/>
          </a:solidFill>
          <a:ln w="12700">
            <a:solidFill>
              <a:srgbClr val="8FE1A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02552" y="4764024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71C16"/>
                </a:solidFill>
              </a:rPr>
              <a:t>5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7132320" y="473659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F6F2E8"/>
                </a:solidFill>
              </a:rPr>
              <a:t>Ensemble</a:t>
            </a:r>
            <a:endParaRPr lang="en-US" sz="1280" dirty="0"/>
          </a:p>
        </p:txBody>
      </p:sp>
    </p:spTree>
  </p:cSld>
  <p:transition spd="med">
    <p:wipe dir="l"/>
  </p:transition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C16"/>
          </a:solidFill>
          <a:ln w="12700">
            <a:solidFill>
              <a:srgbClr val="071C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0">
            <a:off x="-914400" y="0"/>
            <a:ext cx="5669280" cy="6858000"/>
          </a:xfrm>
          <a:prstGeom prst="chevron">
            <a:avLst/>
          </a:prstGeom>
          <a:solidFill>
            <a:srgbClr val="0B6B49">
              <a:alpha val="32000"/>
            </a:srgbClr>
          </a:solidFill>
          <a:ln w="12700">
            <a:solidFill>
              <a:srgbClr val="0B6B4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-1280160"/>
            <a:ext cx="4754880" cy="4754880"/>
          </a:xfrm>
          <a:prstGeom prst="arc">
            <a:avLst/>
          </a:prstGeom>
          <a:solidFill>
            <a:srgbClr val="8FE1AE">
              <a:alpha val="12000"/>
            </a:srgbClr>
          </a:solidFill>
          <a:ln w="12700">
            <a:solidFill>
              <a:srgbClr val="8FE1AE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2918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FE1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Our Work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0652760" y="32918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B6C9BE"/>
                </a:solidFill>
              </a:rPr>
              <a:t>06 / 20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40080" y="914400"/>
            <a:ext cx="5669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6F2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we used in our project</a:t>
            </a:r>
            <a:endParaRPr lang="en-US" sz="3100" dirty="0"/>
          </a:p>
        </p:txBody>
      </p:sp>
      <p:sp>
        <p:nvSpPr>
          <p:cNvPr id="8" name="Shape 6"/>
          <p:cNvSpPr/>
          <p:nvPr/>
        </p:nvSpPr>
        <p:spPr>
          <a:xfrm>
            <a:off x="713232" y="2587752"/>
            <a:ext cx="73152" cy="73152"/>
          </a:xfrm>
          <a:prstGeom prst="ellipse">
            <a:avLst/>
          </a:prstGeom>
          <a:solidFill>
            <a:srgbClr val="C5F26D"/>
          </a:solidFill>
          <a:ln w="12700">
            <a:solidFill>
              <a:srgbClr val="C5F26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7824" y="2514600"/>
            <a:ext cx="516636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F6F2E8"/>
                </a:solidFill>
              </a:rPr>
              <a:t>Dataset experiments on IP102 and D0.</a:t>
            </a:r>
            <a:endParaRPr lang="en-US" sz="1380" dirty="0"/>
          </a:p>
        </p:txBody>
      </p:sp>
      <p:sp>
        <p:nvSpPr>
          <p:cNvPr id="10" name="Shape 8"/>
          <p:cNvSpPr/>
          <p:nvPr/>
        </p:nvSpPr>
        <p:spPr>
          <a:xfrm>
            <a:off x="713232" y="2980944"/>
            <a:ext cx="73152" cy="73152"/>
          </a:xfrm>
          <a:prstGeom prst="ellipse">
            <a:avLst/>
          </a:prstGeom>
          <a:solidFill>
            <a:srgbClr val="C5F26D"/>
          </a:solidFill>
          <a:ln w="12700">
            <a:solidFill>
              <a:srgbClr val="C5F26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7824" y="2907792"/>
            <a:ext cx="516636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F6F2E8"/>
                </a:solidFill>
              </a:rPr>
              <a:t>Baseline models: AlexNet and ResNet50.</a:t>
            </a:r>
            <a:endParaRPr lang="en-US" sz="1380" dirty="0"/>
          </a:p>
        </p:txBody>
      </p:sp>
      <p:sp>
        <p:nvSpPr>
          <p:cNvPr id="12" name="Shape 10"/>
          <p:cNvSpPr/>
          <p:nvPr/>
        </p:nvSpPr>
        <p:spPr>
          <a:xfrm>
            <a:off x="713232" y="3374136"/>
            <a:ext cx="73152" cy="73152"/>
          </a:xfrm>
          <a:prstGeom prst="ellipse">
            <a:avLst/>
          </a:prstGeom>
          <a:solidFill>
            <a:srgbClr val="C5F26D"/>
          </a:solidFill>
          <a:ln w="12700">
            <a:solidFill>
              <a:srgbClr val="C5F26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77824" y="3300984"/>
            <a:ext cx="516636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F6F2E8"/>
                </a:solidFill>
              </a:rPr>
              <a:t>Improved model: ResNet50 + FPN.</a:t>
            </a:r>
            <a:endParaRPr lang="en-US" sz="1380" dirty="0"/>
          </a:p>
        </p:txBody>
      </p:sp>
      <p:sp>
        <p:nvSpPr>
          <p:cNvPr id="14" name="Shape 12"/>
          <p:cNvSpPr/>
          <p:nvPr/>
        </p:nvSpPr>
        <p:spPr>
          <a:xfrm>
            <a:off x="713232" y="3767328"/>
            <a:ext cx="73152" cy="73152"/>
          </a:xfrm>
          <a:prstGeom prst="ellipse">
            <a:avLst/>
          </a:prstGeom>
          <a:solidFill>
            <a:srgbClr val="C5F26D"/>
          </a:solidFill>
          <a:ln w="12700">
            <a:solidFill>
              <a:srgbClr val="C5F26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7824" y="3694176"/>
            <a:ext cx="516636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F6F2E8"/>
                </a:solidFill>
              </a:rPr>
              <a:t>Advanced notebooks: RAN and MMAL-Net.</a:t>
            </a:r>
            <a:endParaRPr lang="en-US" sz="1380" dirty="0"/>
          </a:p>
        </p:txBody>
      </p:sp>
      <p:sp>
        <p:nvSpPr>
          <p:cNvPr id="16" name="Shape 14"/>
          <p:cNvSpPr/>
          <p:nvPr/>
        </p:nvSpPr>
        <p:spPr>
          <a:xfrm>
            <a:off x="713232" y="4160520"/>
            <a:ext cx="73152" cy="73152"/>
          </a:xfrm>
          <a:prstGeom prst="ellipse">
            <a:avLst/>
          </a:prstGeom>
          <a:solidFill>
            <a:srgbClr val="C5F26D"/>
          </a:solidFill>
          <a:ln w="12700">
            <a:solidFill>
              <a:srgbClr val="C5F26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7824" y="4087368"/>
            <a:ext cx="516636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F6F2E8"/>
                </a:solidFill>
              </a:rPr>
              <a:t>Streamlit app for image upload and prediction.</a:t>
            </a:r>
            <a:endParaRPr lang="en-US" sz="1380" dirty="0"/>
          </a:p>
        </p:txBody>
      </p:sp>
      <p:sp>
        <p:nvSpPr>
          <p:cNvPr id="18" name="Shape 16"/>
          <p:cNvSpPr/>
          <p:nvPr/>
        </p:nvSpPr>
        <p:spPr>
          <a:xfrm>
            <a:off x="6537960" y="1133856"/>
            <a:ext cx="4297680" cy="548640"/>
          </a:xfrm>
          <a:prstGeom prst="roundRect">
            <a:avLst>
              <a:gd name="adj" fmla="val 13333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8FE1AE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702552" y="1261872"/>
            <a:ext cx="292608" cy="292608"/>
          </a:xfrm>
          <a:prstGeom prst="ellipse">
            <a:avLst/>
          </a:prstGeom>
          <a:solidFill>
            <a:srgbClr val="8FE1AE"/>
          </a:solidFill>
          <a:ln w="12700">
            <a:solidFill>
              <a:srgbClr val="8FE1A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02552" y="1325880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71C16"/>
                </a:solidFill>
              </a:rPr>
              <a:t>1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7132320" y="1298448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F6F2E8"/>
                </a:solidFill>
              </a:rPr>
              <a:t>Colab</a:t>
            </a:r>
            <a:endParaRPr lang="en-US" sz="1280" dirty="0"/>
          </a:p>
        </p:txBody>
      </p:sp>
      <p:sp>
        <p:nvSpPr>
          <p:cNvPr id="22" name="Shape 20"/>
          <p:cNvSpPr/>
          <p:nvPr/>
        </p:nvSpPr>
        <p:spPr>
          <a:xfrm>
            <a:off x="6537960" y="1993392"/>
            <a:ext cx="4297680" cy="548640"/>
          </a:xfrm>
          <a:prstGeom prst="roundRect">
            <a:avLst>
              <a:gd name="adj" fmla="val 13333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8FE1AE">
                <a:alpha val="4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02552" y="2121408"/>
            <a:ext cx="292608" cy="292608"/>
          </a:xfrm>
          <a:prstGeom prst="ellipse">
            <a:avLst/>
          </a:prstGeom>
          <a:solidFill>
            <a:srgbClr val="8FE1AE"/>
          </a:solidFill>
          <a:ln w="12700">
            <a:solidFill>
              <a:srgbClr val="8FE1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02552" y="2185416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71C16"/>
                </a:solidFill>
              </a:rPr>
              <a:t>2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132320" y="2157984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F6F2E8"/>
                </a:solidFill>
              </a:rPr>
              <a:t>Kaggle</a:t>
            </a:r>
            <a:endParaRPr lang="en-US" sz="1280" dirty="0"/>
          </a:p>
        </p:txBody>
      </p:sp>
      <p:sp>
        <p:nvSpPr>
          <p:cNvPr id="26" name="Shape 24"/>
          <p:cNvSpPr/>
          <p:nvPr/>
        </p:nvSpPr>
        <p:spPr>
          <a:xfrm>
            <a:off x="6537960" y="2852928"/>
            <a:ext cx="4297680" cy="548640"/>
          </a:xfrm>
          <a:prstGeom prst="roundRect">
            <a:avLst>
              <a:gd name="adj" fmla="val 13333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8FE1AE">
                <a:alpha val="4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702552" y="2980944"/>
            <a:ext cx="292608" cy="292608"/>
          </a:xfrm>
          <a:prstGeom prst="ellipse">
            <a:avLst/>
          </a:prstGeom>
          <a:solidFill>
            <a:srgbClr val="8FE1AE"/>
          </a:solidFill>
          <a:ln w="12700">
            <a:solidFill>
              <a:srgbClr val="8FE1A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02552" y="3044952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71C16"/>
                </a:solidFill>
              </a:rPr>
              <a:t>3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7132320" y="301752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F6F2E8"/>
                </a:solidFill>
              </a:rPr>
              <a:t>PyTorch</a:t>
            </a:r>
            <a:endParaRPr lang="en-US" sz="1280" dirty="0"/>
          </a:p>
        </p:txBody>
      </p:sp>
      <p:sp>
        <p:nvSpPr>
          <p:cNvPr id="30" name="Shape 28"/>
          <p:cNvSpPr/>
          <p:nvPr/>
        </p:nvSpPr>
        <p:spPr>
          <a:xfrm>
            <a:off x="6537960" y="3712464"/>
            <a:ext cx="4297680" cy="548640"/>
          </a:xfrm>
          <a:prstGeom prst="roundRect">
            <a:avLst>
              <a:gd name="adj" fmla="val 13333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8FE1AE">
                <a:alpha val="4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702552" y="3840480"/>
            <a:ext cx="292608" cy="292608"/>
          </a:xfrm>
          <a:prstGeom prst="ellipse">
            <a:avLst/>
          </a:prstGeom>
          <a:solidFill>
            <a:srgbClr val="8FE1AE"/>
          </a:solidFill>
          <a:ln w="12700">
            <a:solidFill>
              <a:srgbClr val="8FE1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02552" y="3904488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71C16"/>
                </a:solidFill>
              </a:rPr>
              <a:t>4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7132320" y="3877056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F6F2E8"/>
                </a:solidFill>
              </a:rPr>
              <a:t>Streamlit</a:t>
            </a:r>
            <a:endParaRPr lang="en-US" sz="1280" dirty="0"/>
          </a:p>
        </p:txBody>
      </p:sp>
    </p:spTree>
  </p:cSld>
  <p:transition spd="med">
    <p:fade/>
  </p:transition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C16"/>
          </a:solidFill>
          <a:ln w="12700">
            <a:solidFill>
              <a:srgbClr val="071C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0">
            <a:off x="-914400" y="0"/>
            <a:ext cx="5669280" cy="6858000"/>
          </a:xfrm>
          <a:prstGeom prst="chevron">
            <a:avLst/>
          </a:prstGeom>
          <a:solidFill>
            <a:srgbClr val="0B6B49">
              <a:alpha val="32000"/>
            </a:srgbClr>
          </a:solidFill>
          <a:ln w="12700">
            <a:solidFill>
              <a:srgbClr val="0B6B4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-1280160"/>
            <a:ext cx="4754880" cy="4754880"/>
          </a:xfrm>
          <a:prstGeom prst="arc">
            <a:avLst/>
          </a:prstGeom>
          <a:solidFill>
            <a:srgbClr val="8FE1AE">
              <a:alpha val="12000"/>
            </a:srgbClr>
          </a:solidFill>
          <a:ln w="12700">
            <a:solidFill>
              <a:srgbClr val="8FE1AE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2918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FE1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Experiment Setup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0652760" y="32918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B6C9BE"/>
                </a:solidFill>
              </a:rPr>
              <a:t>07 / 20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40080" y="914400"/>
            <a:ext cx="5669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6F2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Dataset and training setup</a:t>
            </a:r>
            <a:endParaRPr lang="en-US" sz="3100" dirty="0"/>
          </a:p>
        </p:txBody>
      </p:sp>
      <p:sp>
        <p:nvSpPr>
          <p:cNvPr id="8" name="Shape 6"/>
          <p:cNvSpPr/>
          <p:nvPr/>
        </p:nvSpPr>
        <p:spPr>
          <a:xfrm>
            <a:off x="713232" y="2587752"/>
            <a:ext cx="73152" cy="73152"/>
          </a:xfrm>
          <a:prstGeom prst="ellipse">
            <a:avLst/>
          </a:prstGeom>
          <a:solidFill>
            <a:srgbClr val="C5F26D"/>
          </a:solidFill>
          <a:ln w="12700">
            <a:solidFill>
              <a:srgbClr val="C5F26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7824" y="2514600"/>
            <a:ext cx="516636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F6F2E8"/>
                </a:solidFill>
              </a:rPr>
              <a:t>IP102: 102 pest classes and more than 75k images.</a:t>
            </a:r>
            <a:endParaRPr lang="en-US" sz="1380" dirty="0"/>
          </a:p>
        </p:txBody>
      </p:sp>
      <p:sp>
        <p:nvSpPr>
          <p:cNvPr id="10" name="Shape 8"/>
          <p:cNvSpPr/>
          <p:nvPr/>
        </p:nvSpPr>
        <p:spPr>
          <a:xfrm>
            <a:off x="713232" y="2980944"/>
            <a:ext cx="73152" cy="73152"/>
          </a:xfrm>
          <a:prstGeom prst="ellipse">
            <a:avLst/>
          </a:prstGeom>
          <a:solidFill>
            <a:srgbClr val="C5F26D"/>
          </a:solidFill>
          <a:ln w="12700">
            <a:solidFill>
              <a:srgbClr val="C5F26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7824" y="2907792"/>
            <a:ext cx="516636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F6F2E8"/>
                </a:solidFill>
              </a:rPr>
              <a:t>D0: smaller 40-class insect pest dataset.</a:t>
            </a:r>
            <a:endParaRPr lang="en-US" sz="1380" dirty="0"/>
          </a:p>
        </p:txBody>
      </p:sp>
      <p:sp>
        <p:nvSpPr>
          <p:cNvPr id="12" name="Shape 10"/>
          <p:cNvSpPr/>
          <p:nvPr/>
        </p:nvSpPr>
        <p:spPr>
          <a:xfrm>
            <a:off x="713232" y="3374136"/>
            <a:ext cx="73152" cy="73152"/>
          </a:xfrm>
          <a:prstGeom prst="ellipse">
            <a:avLst/>
          </a:prstGeom>
          <a:solidFill>
            <a:srgbClr val="C5F26D"/>
          </a:solidFill>
          <a:ln w="12700">
            <a:solidFill>
              <a:srgbClr val="C5F26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77824" y="3300984"/>
            <a:ext cx="516636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F6F2E8"/>
                </a:solidFill>
              </a:rPr>
              <a:t>Training used 10 epochs in our reported runs.</a:t>
            </a:r>
            <a:endParaRPr lang="en-US" sz="1380" dirty="0"/>
          </a:p>
        </p:txBody>
      </p:sp>
      <p:sp>
        <p:nvSpPr>
          <p:cNvPr id="14" name="Shape 12"/>
          <p:cNvSpPr/>
          <p:nvPr/>
        </p:nvSpPr>
        <p:spPr>
          <a:xfrm>
            <a:off x="713232" y="3767328"/>
            <a:ext cx="73152" cy="73152"/>
          </a:xfrm>
          <a:prstGeom prst="ellipse">
            <a:avLst/>
          </a:prstGeom>
          <a:solidFill>
            <a:srgbClr val="C5F26D"/>
          </a:solidFill>
          <a:ln w="12700">
            <a:solidFill>
              <a:srgbClr val="C5F26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7824" y="3694176"/>
            <a:ext cx="516636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F6F2E8"/>
                </a:solidFill>
              </a:rPr>
              <a:t>Best validation accuracy was saved as the main result.</a:t>
            </a:r>
            <a:endParaRPr lang="en-US" sz="1380" dirty="0"/>
          </a:p>
        </p:txBody>
      </p:sp>
      <p:sp>
        <p:nvSpPr>
          <p:cNvPr id="16" name="Shape 14"/>
          <p:cNvSpPr/>
          <p:nvPr/>
        </p:nvSpPr>
        <p:spPr>
          <a:xfrm>
            <a:off x="713232" y="4160520"/>
            <a:ext cx="73152" cy="73152"/>
          </a:xfrm>
          <a:prstGeom prst="ellipse">
            <a:avLst/>
          </a:prstGeom>
          <a:solidFill>
            <a:srgbClr val="C5F26D"/>
          </a:solidFill>
          <a:ln w="12700">
            <a:solidFill>
              <a:srgbClr val="C5F26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7824" y="4087368"/>
            <a:ext cx="516636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F6F2E8"/>
                </a:solidFill>
              </a:rPr>
              <a:t>Metrics focus on validation accuracy for our comparison.</a:t>
            </a:r>
            <a:endParaRPr lang="en-US" sz="1380" dirty="0"/>
          </a:p>
        </p:txBody>
      </p:sp>
      <p:sp>
        <p:nvSpPr>
          <p:cNvPr id="18" name="Shape 16"/>
          <p:cNvSpPr/>
          <p:nvPr/>
        </p:nvSpPr>
        <p:spPr>
          <a:xfrm>
            <a:off x="6537960" y="1133856"/>
            <a:ext cx="4297680" cy="548640"/>
          </a:xfrm>
          <a:prstGeom prst="roundRect">
            <a:avLst>
              <a:gd name="adj" fmla="val 13333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8FE1AE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702552" y="1261872"/>
            <a:ext cx="292608" cy="292608"/>
          </a:xfrm>
          <a:prstGeom prst="ellipse">
            <a:avLst/>
          </a:prstGeom>
          <a:solidFill>
            <a:srgbClr val="8FE1AE"/>
          </a:solidFill>
          <a:ln w="12700">
            <a:solidFill>
              <a:srgbClr val="8FE1A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02552" y="1325880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71C16"/>
                </a:solidFill>
              </a:rPr>
              <a:t>1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7132320" y="1298448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F6F2E8"/>
                </a:solidFill>
              </a:rPr>
              <a:t>IP102</a:t>
            </a:r>
            <a:endParaRPr lang="en-US" sz="1280" dirty="0"/>
          </a:p>
        </p:txBody>
      </p:sp>
      <p:sp>
        <p:nvSpPr>
          <p:cNvPr id="22" name="Shape 20"/>
          <p:cNvSpPr/>
          <p:nvPr/>
        </p:nvSpPr>
        <p:spPr>
          <a:xfrm>
            <a:off x="6537960" y="1993392"/>
            <a:ext cx="4297680" cy="548640"/>
          </a:xfrm>
          <a:prstGeom prst="roundRect">
            <a:avLst>
              <a:gd name="adj" fmla="val 13333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8FE1AE">
                <a:alpha val="4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02552" y="2121408"/>
            <a:ext cx="292608" cy="292608"/>
          </a:xfrm>
          <a:prstGeom prst="ellipse">
            <a:avLst/>
          </a:prstGeom>
          <a:solidFill>
            <a:srgbClr val="8FE1AE"/>
          </a:solidFill>
          <a:ln w="12700">
            <a:solidFill>
              <a:srgbClr val="8FE1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02552" y="2185416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71C16"/>
                </a:solidFill>
              </a:rPr>
              <a:t>2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132320" y="2157984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F6F2E8"/>
                </a:solidFill>
              </a:rPr>
              <a:t>D0</a:t>
            </a:r>
            <a:endParaRPr lang="en-US" sz="1280" dirty="0"/>
          </a:p>
        </p:txBody>
      </p:sp>
      <p:sp>
        <p:nvSpPr>
          <p:cNvPr id="26" name="Shape 24"/>
          <p:cNvSpPr/>
          <p:nvPr/>
        </p:nvSpPr>
        <p:spPr>
          <a:xfrm>
            <a:off x="6537960" y="2852928"/>
            <a:ext cx="4297680" cy="548640"/>
          </a:xfrm>
          <a:prstGeom prst="roundRect">
            <a:avLst>
              <a:gd name="adj" fmla="val 13333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8FE1AE">
                <a:alpha val="4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702552" y="2980944"/>
            <a:ext cx="292608" cy="292608"/>
          </a:xfrm>
          <a:prstGeom prst="ellipse">
            <a:avLst/>
          </a:prstGeom>
          <a:solidFill>
            <a:srgbClr val="8FE1AE"/>
          </a:solidFill>
          <a:ln w="12700">
            <a:solidFill>
              <a:srgbClr val="8FE1A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02552" y="3044952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71C16"/>
                </a:solidFill>
              </a:rPr>
              <a:t>3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7132320" y="301752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F6F2E8"/>
                </a:solidFill>
              </a:rPr>
              <a:t>10 epochs</a:t>
            </a:r>
            <a:endParaRPr lang="en-US" sz="1280" dirty="0"/>
          </a:p>
        </p:txBody>
      </p:sp>
      <p:sp>
        <p:nvSpPr>
          <p:cNvPr id="30" name="Shape 28"/>
          <p:cNvSpPr/>
          <p:nvPr/>
        </p:nvSpPr>
        <p:spPr>
          <a:xfrm>
            <a:off x="6537960" y="3712464"/>
            <a:ext cx="4297680" cy="548640"/>
          </a:xfrm>
          <a:prstGeom prst="roundRect">
            <a:avLst>
              <a:gd name="adj" fmla="val 13333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8FE1AE">
                <a:alpha val="4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702552" y="3840480"/>
            <a:ext cx="292608" cy="292608"/>
          </a:xfrm>
          <a:prstGeom prst="ellipse">
            <a:avLst/>
          </a:prstGeom>
          <a:solidFill>
            <a:srgbClr val="8FE1AE"/>
          </a:solidFill>
          <a:ln w="12700">
            <a:solidFill>
              <a:srgbClr val="8FE1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02552" y="3904488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71C16"/>
                </a:solidFill>
              </a:rPr>
              <a:t>4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7132320" y="3877056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F6F2E8"/>
                </a:solidFill>
              </a:rPr>
              <a:t>Best checkpoint</a:t>
            </a:r>
            <a:endParaRPr lang="en-US" sz="1280" dirty="0"/>
          </a:p>
        </p:txBody>
      </p:sp>
    </p:spTree>
  </p:cSld>
  <p:transition spd="med">
    <p:push dir="l"/>
  </p:transition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C16"/>
          </a:solidFill>
          <a:ln w="12700">
            <a:solidFill>
              <a:srgbClr val="071C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0">
            <a:off x="-914400" y="0"/>
            <a:ext cx="5669280" cy="6858000"/>
          </a:xfrm>
          <a:prstGeom prst="chevron">
            <a:avLst/>
          </a:prstGeom>
          <a:solidFill>
            <a:srgbClr val="0B6B49">
              <a:alpha val="32000"/>
            </a:srgbClr>
          </a:solidFill>
          <a:ln w="12700">
            <a:solidFill>
              <a:srgbClr val="0B6B4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-1280160"/>
            <a:ext cx="4754880" cy="4754880"/>
          </a:xfrm>
          <a:prstGeom prst="arc">
            <a:avLst/>
          </a:prstGeom>
          <a:solidFill>
            <a:srgbClr val="8FE1AE">
              <a:alpha val="12000"/>
            </a:srgbClr>
          </a:solidFill>
          <a:ln w="12700">
            <a:solidFill>
              <a:srgbClr val="8FE1AE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2918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FE1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Step 1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0652760" y="32918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B6C9BE"/>
                </a:solidFill>
              </a:rPr>
              <a:t>08 / 20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40080" y="914400"/>
            <a:ext cx="5669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6F2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AlexNet baseline on IP102</a:t>
            </a:r>
            <a:endParaRPr lang="en-US" sz="3100" dirty="0"/>
          </a:p>
        </p:txBody>
      </p:sp>
      <p:sp>
        <p:nvSpPr>
          <p:cNvPr id="8" name="Shape 6"/>
          <p:cNvSpPr/>
          <p:nvPr/>
        </p:nvSpPr>
        <p:spPr>
          <a:xfrm>
            <a:off x="713232" y="2587752"/>
            <a:ext cx="73152" cy="73152"/>
          </a:xfrm>
          <a:prstGeom prst="ellipse">
            <a:avLst/>
          </a:prstGeom>
          <a:solidFill>
            <a:srgbClr val="C5F26D"/>
          </a:solidFill>
          <a:ln w="12700">
            <a:solidFill>
              <a:srgbClr val="C5F26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7824" y="2514600"/>
            <a:ext cx="516636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F6F2E8"/>
                </a:solidFill>
              </a:rPr>
              <a:t>First baseline experiment.</a:t>
            </a:r>
            <a:endParaRPr lang="en-US" sz="1380" dirty="0"/>
          </a:p>
        </p:txBody>
      </p:sp>
      <p:sp>
        <p:nvSpPr>
          <p:cNvPr id="10" name="Shape 8"/>
          <p:cNvSpPr/>
          <p:nvPr/>
        </p:nvSpPr>
        <p:spPr>
          <a:xfrm>
            <a:off x="713232" y="2980944"/>
            <a:ext cx="73152" cy="73152"/>
          </a:xfrm>
          <a:prstGeom prst="ellipse">
            <a:avLst/>
          </a:prstGeom>
          <a:solidFill>
            <a:srgbClr val="C5F26D"/>
          </a:solidFill>
          <a:ln w="12700">
            <a:solidFill>
              <a:srgbClr val="C5F26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7824" y="2907792"/>
            <a:ext cx="516636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F6F2E8"/>
                </a:solidFill>
              </a:rPr>
              <a:t>Shows the difficulty of IP102.</a:t>
            </a:r>
            <a:endParaRPr lang="en-US" sz="1380" dirty="0"/>
          </a:p>
        </p:txBody>
      </p:sp>
      <p:sp>
        <p:nvSpPr>
          <p:cNvPr id="12" name="Shape 10"/>
          <p:cNvSpPr/>
          <p:nvPr/>
        </p:nvSpPr>
        <p:spPr>
          <a:xfrm>
            <a:off x="713232" y="3374136"/>
            <a:ext cx="73152" cy="73152"/>
          </a:xfrm>
          <a:prstGeom prst="ellipse">
            <a:avLst/>
          </a:prstGeom>
          <a:solidFill>
            <a:srgbClr val="C5F26D"/>
          </a:solidFill>
          <a:ln w="12700">
            <a:solidFill>
              <a:srgbClr val="C5F26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77824" y="3300984"/>
            <a:ext cx="516636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F6F2E8"/>
                </a:solidFill>
              </a:rPr>
              <a:t>Validation accuracy improved every epoch.</a:t>
            </a:r>
            <a:endParaRPr lang="en-US" sz="1380" dirty="0"/>
          </a:p>
        </p:txBody>
      </p:sp>
      <p:sp>
        <p:nvSpPr>
          <p:cNvPr id="14" name="Shape 12"/>
          <p:cNvSpPr/>
          <p:nvPr/>
        </p:nvSpPr>
        <p:spPr>
          <a:xfrm>
            <a:off x="713232" y="3767328"/>
            <a:ext cx="73152" cy="73152"/>
          </a:xfrm>
          <a:prstGeom prst="ellipse">
            <a:avLst/>
          </a:prstGeom>
          <a:solidFill>
            <a:srgbClr val="C5F26D"/>
          </a:solidFill>
          <a:ln w="12700">
            <a:solidFill>
              <a:srgbClr val="C5F26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7824" y="3694176"/>
            <a:ext cx="516636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F6F2E8"/>
                </a:solidFill>
              </a:rPr>
              <a:t>Best validation accuracy: 60.28%.</a:t>
            </a:r>
            <a:endParaRPr lang="en-US" sz="1380" dirty="0"/>
          </a:p>
        </p:txBody>
      </p:sp>
      <p:sp>
        <p:nvSpPr>
          <p:cNvPr id="16" name="Text 14"/>
          <p:cNvSpPr/>
          <p:nvPr/>
        </p:nvSpPr>
        <p:spPr>
          <a:xfrm>
            <a:off x="731520" y="480060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5F26D"/>
                </a:solidFill>
              </a:rPr>
              <a:t>60.28%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446520" y="1207008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F6F2E8"/>
                </a:solidFill>
              </a:rPr>
              <a:t>Epoch 1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7818120" y="1170432"/>
            <a:ext cx="2286000" cy="201168"/>
          </a:xfrm>
          <a:prstGeom prst="roundRect">
            <a:avLst>
              <a:gd name="adj" fmla="val 18182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818120" y="1170432"/>
            <a:ext cx="1418300" cy="201168"/>
          </a:xfrm>
          <a:prstGeom prst="roundRect">
            <a:avLst>
              <a:gd name="adj" fmla="val 18182"/>
            </a:avLst>
          </a:prstGeom>
          <a:solidFill>
            <a:srgbClr val="8FE1AE"/>
          </a:solidFill>
          <a:ln w="12700">
            <a:solidFill>
              <a:srgbClr val="8FE1A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241280" y="1197864"/>
            <a:ext cx="5669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5F26D"/>
                </a:solidFill>
              </a:rPr>
              <a:t>43.43%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446520" y="1709928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F6F2E8"/>
                </a:solidFill>
              </a:rPr>
              <a:t>Epoch 5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7818120" y="1673352"/>
            <a:ext cx="2286000" cy="201168"/>
          </a:xfrm>
          <a:prstGeom prst="roundRect">
            <a:avLst>
              <a:gd name="adj" fmla="val 18182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818120" y="1673352"/>
            <a:ext cx="1854273" cy="201168"/>
          </a:xfrm>
          <a:prstGeom prst="roundRect">
            <a:avLst>
              <a:gd name="adj" fmla="val 18182"/>
            </a:avLst>
          </a:prstGeom>
          <a:solidFill>
            <a:srgbClr val="8FE1AE"/>
          </a:solidFill>
          <a:ln w="12700">
            <a:solidFill>
              <a:srgbClr val="8FE1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241280" y="1700784"/>
            <a:ext cx="5669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5F26D"/>
                </a:solidFill>
              </a:rPr>
              <a:t>56.78%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446520" y="2212848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F6F2E8"/>
                </a:solidFill>
              </a:rPr>
              <a:t>Epoch 10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7818120" y="2176272"/>
            <a:ext cx="2286000" cy="201168"/>
          </a:xfrm>
          <a:prstGeom prst="roundRect">
            <a:avLst>
              <a:gd name="adj" fmla="val 18182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818120" y="2176272"/>
            <a:ext cx="1968573" cy="201168"/>
          </a:xfrm>
          <a:prstGeom prst="roundRect">
            <a:avLst>
              <a:gd name="adj" fmla="val 18182"/>
            </a:avLst>
          </a:prstGeom>
          <a:solidFill>
            <a:srgbClr val="8FE1AE"/>
          </a:solidFill>
          <a:ln w="12700">
            <a:solidFill>
              <a:srgbClr val="8FE1A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241280" y="2203704"/>
            <a:ext cx="5669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5F26D"/>
                </a:solidFill>
              </a:rPr>
              <a:t>60.28%</a:t>
            </a:r>
            <a:endParaRPr lang="en-US" sz="800" dirty="0"/>
          </a:p>
        </p:txBody>
      </p:sp>
      <p:sp>
        <p:nvSpPr>
          <p:cNvPr id="29" name="Text 27">
            <a:hlinkClick r:id="rId1" tooltip=""/>
          </p:cNvPr>
          <p:cNvSpPr/>
          <p:nvPr/>
        </p:nvSpPr>
        <p:spPr>
          <a:xfrm>
            <a:off x="749808" y="5815584"/>
            <a:ext cx="822960" cy="146304"/>
          </a:xfrm>
          <a:prstGeom prst="rect">
            <a:avLst/>
          </a:prstGeom>
          <a:solidFill>
            <a:srgbClr val="8FE1AE"/>
          </a:solidFill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800" b="1" u="sng" dirty="0">
                <a:solidFill>
                  <a:srgbClr val="071C16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Source link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709928" y="5815584"/>
            <a:ext cx="4343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B6C9BE"/>
                </a:solidFill>
              </a:rPr>
              <a:t>https://colab.research.google.com/drive/1ktw3-JJAc-8LyvjQzVyRX9gV2bW9bIWP</a:t>
            </a:r>
            <a:endParaRPr lang="en-US" sz="680" dirty="0"/>
          </a:p>
        </p:txBody>
      </p:sp>
    </p:spTree>
  </p:cSld>
  <p:transition spd="med">
    <p:wipe dir="l"/>
  </p:transition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C16"/>
          </a:solidFill>
          <a:ln w="12700">
            <a:solidFill>
              <a:srgbClr val="071C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0">
            <a:off x="-914400" y="0"/>
            <a:ext cx="5669280" cy="6858000"/>
          </a:xfrm>
          <a:prstGeom prst="chevron">
            <a:avLst/>
          </a:prstGeom>
          <a:solidFill>
            <a:srgbClr val="0B6B49">
              <a:alpha val="32000"/>
            </a:srgbClr>
          </a:solidFill>
          <a:ln w="12700">
            <a:solidFill>
              <a:srgbClr val="0B6B4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-1280160"/>
            <a:ext cx="4754880" cy="4754880"/>
          </a:xfrm>
          <a:prstGeom prst="arc">
            <a:avLst/>
          </a:prstGeom>
          <a:solidFill>
            <a:srgbClr val="8FE1AE">
              <a:alpha val="12000"/>
            </a:srgbClr>
          </a:solidFill>
          <a:ln w="12700">
            <a:solidFill>
              <a:srgbClr val="8FE1AE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2918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FE1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Step 2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0652760" y="32918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B6C9BE"/>
                </a:solidFill>
              </a:rPr>
              <a:t>09 / 20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40080" y="914400"/>
            <a:ext cx="5669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6F2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ResNet50 baseline on IP102</a:t>
            </a:r>
            <a:endParaRPr lang="en-US" sz="3100" dirty="0"/>
          </a:p>
        </p:txBody>
      </p:sp>
      <p:sp>
        <p:nvSpPr>
          <p:cNvPr id="8" name="Shape 6"/>
          <p:cNvSpPr/>
          <p:nvPr/>
        </p:nvSpPr>
        <p:spPr>
          <a:xfrm>
            <a:off x="713232" y="2587752"/>
            <a:ext cx="73152" cy="73152"/>
          </a:xfrm>
          <a:prstGeom prst="ellipse">
            <a:avLst/>
          </a:prstGeom>
          <a:solidFill>
            <a:srgbClr val="C5F26D"/>
          </a:solidFill>
          <a:ln w="12700">
            <a:solidFill>
              <a:srgbClr val="C5F26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7824" y="2514600"/>
            <a:ext cx="516636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F6F2E8"/>
                </a:solidFill>
              </a:rPr>
              <a:t>Deeper residual model.</a:t>
            </a:r>
            <a:endParaRPr lang="en-US" sz="1380" dirty="0"/>
          </a:p>
        </p:txBody>
      </p:sp>
      <p:sp>
        <p:nvSpPr>
          <p:cNvPr id="10" name="Shape 8"/>
          <p:cNvSpPr/>
          <p:nvPr/>
        </p:nvSpPr>
        <p:spPr>
          <a:xfrm>
            <a:off x="713232" y="2980944"/>
            <a:ext cx="73152" cy="73152"/>
          </a:xfrm>
          <a:prstGeom prst="ellipse">
            <a:avLst/>
          </a:prstGeom>
          <a:solidFill>
            <a:srgbClr val="C5F26D"/>
          </a:solidFill>
          <a:ln w="12700">
            <a:solidFill>
              <a:srgbClr val="C5F26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7824" y="2907792"/>
            <a:ext cx="516636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F6F2E8"/>
                </a:solidFill>
              </a:rPr>
              <a:t>Uses skip connections to train strong features.</a:t>
            </a:r>
            <a:endParaRPr lang="en-US" sz="1380" dirty="0"/>
          </a:p>
        </p:txBody>
      </p:sp>
      <p:sp>
        <p:nvSpPr>
          <p:cNvPr id="12" name="Shape 10"/>
          <p:cNvSpPr/>
          <p:nvPr/>
        </p:nvSpPr>
        <p:spPr>
          <a:xfrm>
            <a:off x="713232" y="3374136"/>
            <a:ext cx="73152" cy="73152"/>
          </a:xfrm>
          <a:prstGeom prst="ellipse">
            <a:avLst/>
          </a:prstGeom>
          <a:solidFill>
            <a:srgbClr val="C5F26D"/>
          </a:solidFill>
          <a:ln w="12700">
            <a:solidFill>
              <a:srgbClr val="C5F26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77824" y="3300984"/>
            <a:ext cx="516636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F6F2E8"/>
                </a:solidFill>
              </a:rPr>
              <a:t>Outperformed AlexNet by 7.71 percentage points.</a:t>
            </a:r>
            <a:endParaRPr lang="en-US" sz="1380" dirty="0"/>
          </a:p>
        </p:txBody>
      </p:sp>
      <p:sp>
        <p:nvSpPr>
          <p:cNvPr id="14" name="Shape 12"/>
          <p:cNvSpPr/>
          <p:nvPr/>
        </p:nvSpPr>
        <p:spPr>
          <a:xfrm>
            <a:off x="713232" y="3767328"/>
            <a:ext cx="73152" cy="73152"/>
          </a:xfrm>
          <a:prstGeom prst="ellipse">
            <a:avLst/>
          </a:prstGeom>
          <a:solidFill>
            <a:srgbClr val="C5F26D"/>
          </a:solidFill>
          <a:ln w="12700">
            <a:solidFill>
              <a:srgbClr val="C5F26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7824" y="3694176"/>
            <a:ext cx="516636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F6F2E8"/>
                </a:solidFill>
              </a:rPr>
              <a:t>Best validation accuracy: 67.99%.</a:t>
            </a:r>
            <a:endParaRPr lang="en-US" sz="1380" dirty="0"/>
          </a:p>
        </p:txBody>
      </p:sp>
      <p:sp>
        <p:nvSpPr>
          <p:cNvPr id="16" name="Text 14"/>
          <p:cNvSpPr/>
          <p:nvPr/>
        </p:nvSpPr>
        <p:spPr>
          <a:xfrm>
            <a:off x="731520" y="480060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5F26D"/>
                </a:solidFill>
              </a:rPr>
              <a:t>67.99%</a:t>
            </a:r>
            <a:endParaRPr lang="en-US" sz="2800" dirty="0"/>
          </a:p>
        </p:txBody>
      </p:sp>
      <p:pic>
        <p:nvPicPr>
          <p:cNvPr id="17" name="Image 0" descr="C:\Users\Lenovo\Documents\Codex\2026-05-07\pest_project\resnet_bas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3640" y="1234440"/>
            <a:ext cx="5257800" cy="2514600"/>
          </a:xfrm>
          <a:prstGeom prst="rect">
            <a:avLst/>
          </a:prstGeom>
        </p:spPr>
      </p:pic>
      <p:sp>
        <p:nvSpPr>
          <p:cNvPr id="18" name="Text 15">
            <a:hlinkClick r:id="rId2" tooltip=""/>
          </p:cNvPr>
          <p:cNvSpPr/>
          <p:nvPr/>
        </p:nvSpPr>
        <p:spPr>
          <a:xfrm>
            <a:off x="749808" y="5815584"/>
            <a:ext cx="822960" cy="146304"/>
          </a:xfrm>
          <a:prstGeom prst="rect">
            <a:avLst/>
          </a:prstGeom>
          <a:solidFill>
            <a:srgbClr val="8FE1AE"/>
          </a:solidFill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800" b="1" u="sng" dirty="0">
                <a:solidFill>
                  <a:srgbClr val="071C16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Source link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1709928" y="5815584"/>
            <a:ext cx="4343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B6C9BE"/>
                </a:solidFill>
              </a:rPr>
              <a:t>https://colab.research.google.com/drive/1DKKesScd1g5nzw02esenjG8f6bETFJkK?authuser=1</a:t>
            </a:r>
            <a:endParaRPr lang="en-US" sz="680" dirty="0"/>
          </a:p>
        </p:txBody>
      </p:sp>
    </p:spTree>
  </p:cSld>
  <p:transition spd="med">
    <p:fade/>
  </p:transition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1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C16"/>
          </a:solidFill>
          <a:ln w="12700">
            <a:solidFill>
              <a:srgbClr val="071C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0">
            <a:off x="-914400" y="0"/>
            <a:ext cx="5669280" cy="6858000"/>
          </a:xfrm>
          <a:prstGeom prst="chevron">
            <a:avLst/>
          </a:prstGeom>
          <a:solidFill>
            <a:srgbClr val="0B6B49">
              <a:alpha val="32000"/>
            </a:srgbClr>
          </a:solidFill>
          <a:ln w="12700">
            <a:solidFill>
              <a:srgbClr val="0B6B4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-1280160"/>
            <a:ext cx="4754880" cy="4754880"/>
          </a:xfrm>
          <a:prstGeom prst="arc">
            <a:avLst/>
          </a:prstGeom>
          <a:solidFill>
            <a:srgbClr val="8FE1AE">
              <a:alpha val="12000"/>
            </a:srgbClr>
          </a:solidFill>
          <a:ln w="12700">
            <a:solidFill>
              <a:srgbClr val="8FE1AE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2918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FE1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Step 3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0652760" y="32918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B6C9BE"/>
                </a:solidFill>
              </a:rPr>
              <a:t>10 / 20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40080" y="914400"/>
            <a:ext cx="5669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6F2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ResNet50 + FPN on IP102</a:t>
            </a:r>
            <a:endParaRPr lang="en-US" sz="3100" dirty="0"/>
          </a:p>
        </p:txBody>
      </p:sp>
      <p:sp>
        <p:nvSpPr>
          <p:cNvPr id="8" name="Shape 6"/>
          <p:cNvSpPr/>
          <p:nvPr/>
        </p:nvSpPr>
        <p:spPr>
          <a:xfrm>
            <a:off x="713232" y="2587752"/>
            <a:ext cx="73152" cy="73152"/>
          </a:xfrm>
          <a:prstGeom prst="ellipse">
            <a:avLst/>
          </a:prstGeom>
          <a:solidFill>
            <a:srgbClr val="C5F26D"/>
          </a:solidFill>
          <a:ln w="12700">
            <a:solidFill>
              <a:srgbClr val="C5F26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7824" y="2514600"/>
            <a:ext cx="516636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F6F2E8"/>
                </a:solidFill>
              </a:rPr>
              <a:t>Adds multi-scale feature maps.</a:t>
            </a:r>
            <a:endParaRPr lang="en-US" sz="1380" dirty="0"/>
          </a:p>
        </p:txBody>
      </p:sp>
      <p:sp>
        <p:nvSpPr>
          <p:cNvPr id="10" name="Shape 8"/>
          <p:cNvSpPr/>
          <p:nvPr/>
        </p:nvSpPr>
        <p:spPr>
          <a:xfrm>
            <a:off x="713232" y="2980944"/>
            <a:ext cx="73152" cy="73152"/>
          </a:xfrm>
          <a:prstGeom prst="ellipse">
            <a:avLst/>
          </a:prstGeom>
          <a:solidFill>
            <a:srgbClr val="C5F26D"/>
          </a:solidFill>
          <a:ln w="12700">
            <a:solidFill>
              <a:srgbClr val="C5F26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7824" y="2907792"/>
            <a:ext cx="516636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F6F2E8"/>
                </a:solidFill>
              </a:rPr>
              <a:t>Designed to help with small insect regions.</a:t>
            </a:r>
            <a:endParaRPr lang="en-US" sz="1380" dirty="0"/>
          </a:p>
        </p:txBody>
      </p:sp>
      <p:sp>
        <p:nvSpPr>
          <p:cNvPr id="12" name="Shape 10"/>
          <p:cNvSpPr/>
          <p:nvPr/>
        </p:nvSpPr>
        <p:spPr>
          <a:xfrm>
            <a:off x="713232" y="3374136"/>
            <a:ext cx="73152" cy="73152"/>
          </a:xfrm>
          <a:prstGeom prst="ellipse">
            <a:avLst/>
          </a:prstGeom>
          <a:solidFill>
            <a:srgbClr val="C5F26D"/>
          </a:solidFill>
          <a:ln w="12700">
            <a:solidFill>
              <a:srgbClr val="C5F26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77824" y="3300984"/>
            <a:ext cx="516636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F6F2E8"/>
                </a:solidFill>
              </a:rPr>
              <a:t>Validation peaked at epoch 8.</a:t>
            </a:r>
            <a:endParaRPr lang="en-US" sz="1380" dirty="0"/>
          </a:p>
        </p:txBody>
      </p:sp>
      <p:sp>
        <p:nvSpPr>
          <p:cNvPr id="14" name="Shape 12"/>
          <p:cNvSpPr/>
          <p:nvPr/>
        </p:nvSpPr>
        <p:spPr>
          <a:xfrm>
            <a:off x="713232" y="3767328"/>
            <a:ext cx="73152" cy="73152"/>
          </a:xfrm>
          <a:prstGeom prst="ellipse">
            <a:avLst/>
          </a:prstGeom>
          <a:solidFill>
            <a:srgbClr val="C5F26D"/>
          </a:solidFill>
          <a:ln w="12700">
            <a:solidFill>
              <a:srgbClr val="C5F26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7824" y="3694176"/>
            <a:ext cx="516636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F6F2E8"/>
                </a:solidFill>
              </a:rPr>
              <a:t>Best validation accuracy: 65.89%.</a:t>
            </a:r>
            <a:endParaRPr lang="en-US" sz="1380" dirty="0"/>
          </a:p>
        </p:txBody>
      </p:sp>
      <p:sp>
        <p:nvSpPr>
          <p:cNvPr id="16" name="Text 14"/>
          <p:cNvSpPr/>
          <p:nvPr/>
        </p:nvSpPr>
        <p:spPr>
          <a:xfrm>
            <a:off x="731520" y="480060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5F26D"/>
                </a:solidFill>
              </a:rPr>
              <a:t>65.89%</a:t>
            </a:r>
            <a:endParaRPr lang="en-US" sz="2800" dirty="0"/>
          </a:p>
        </p:txBody>
      </p:sp>
      <p:pic>
        <p:nvPicPr>
          <p:cNvPr id="17" name="Image 0" descr="C:\Users\Lenovo\Documents\Codex\2026-05-07\pest_project\fpn+resn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3640" y="1234440"/>
            <a:ext cx="5257800" cy="2514600"/>
          </a:xfrm>
          <a:prstGeom prst="rect">
            <a:avLst/>
          </a:prstGeom>
        </p:spPr>
      </p:pic>
      <p:sp>
        <p:nvSpPr>
          <p:cNvPr id="18" name="Text 15">
            <a:hlinkClick r:id="rId2" tooltip=""/>
          </p:cNvPr>
          <p:cNvSpPr/>
          <p:nvPr/>
        </p:nvSpPr>
        <p:spPr>
          <a:xfrm>
            <a:off x="749808" y="5815584"/>
            <a:ext cx="822960" cy="146304"/>
          </a:xfrm>
          <a:prstGeom prst="rect">
            <a:avLst/>
          </a:prstGeom>
          <a:solidFill>
            <a:srgbClr val="8FE1AE"/>
          </a:solidFill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800" b="1" u="sng" dirty="0">
                <a:solidFill>
                  <a:srgbClr val="071C16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Source link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1709928" y="5815584"/>
            <a:ext cx="4343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B6C9BE"/>
                </a:solidFill>
              </a:rPr>
              <a:t>https://colab.research.google.com/drive/1qZPNGzH862IGcN7bnlFPAo1BNa6YGP5C?usp=sharing</a:t>
            </a:r>
            <a:endParaRPr lang="en-US" sz="680" dirty="0"/>
          </a:p>
        </p:txBody>
      </p:sp>
    </p:spTree>
  </p:cSld>
  <p:transition spd="med">
    <p:push dir="l"/>
  </p:transition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1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C16"/>
          </a:solidFill>
          <a:ln w="12700">
            <a:solidFill>
              <a:srgbClr val="071C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0">
            <a:off x="-914400" y="0"/>
            <a:ext cx="5669280" cy="6858000"/>
          </a:xfrm>
          <a:prstGeom prst="chevron">
            <a:avLst/>
          </a:prstGeom>
          <a:solidFill>
            <a:srgbClr val="0B6B49">
              <a:alpha val="32000"/>
            </a:srgbClr>
          </a:solidFill>
          <a:ln w="12700">
            <a:solidFill>
              <a:srgbClr val="0B6B4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-1280160"/>
            <a:ext cx="4754880" cy="4754880"/>
          </a:xfrm>
          <a:prstGeom prst="arc">
            <a:avLst/>
          </a:prstGeom>
          <a:solidFill>
            <a:srgbClr val="8FE1AE">
              <a:alpha val="12000"/>
            </a:srgbClr>
          </a:solidFill>
          <a:ln w="12700">
            <a:solidFill>
              <a:srgbClr val="8FE1AE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2918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FE1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Step 3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0652760" y="32918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B6C9BE"/>
                </a:solidFill>
              </a:rPr>
              <a:t>11 / 20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40080" y="914400"/>
            <a:ext cx="5669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6F2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ResNet50 + FPN on D0</a:t>
            </a:r>
            <a:endParaRPr lang="en-US" sz="3100" dirty="0"/>
          </a:p>
        </p:txBody>
      </p:sp>
      <p:sp>
        <p:nvSpPr>
          <p:cNvPr id="8" name="Shape 6"/>
          <p:cNvSpPr/>
          <p:nvPr/>
        </p:nvSpPr>
        <p:spPr>
          <a:xfrm>
            <a:off x="713232" y="2587752"/>
            <a:ext cx="73152" cy="73152"/>
          </a:xfrm>
          <a:prstGeom prst="ellipse">
            <a:avLst/>
          </a:prstGeom>
          <a:solidFill>
            <a:srgbClr val="C5F26D"/>
          </a:solidFill>
          <a:ln w="12700">
            <a:solidFill>
              <a:srgbClr val="C5F26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7824" y="2514600"/>
            <a:ext cx="516636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F6F2E8"/>
                </a:solidFill>
              </a:rPr>
              <a:t>Same model tested on smaller D0 dataset.</a:t>
            </a:r>
            <a:endParaRPr lang="en-US" sz="1380" dirty="0"/>
          </a:p>
        </p:txBody>
      </p:sp>
      <p:sp>
        <p:nvSpPr>
          <p:cNvPr id="10" name="Shape 8"/>
          <p:cNvSpPr/>
          <p:nvPr/>
        </p:nvSpPr>
        <p:spPr>
          <a:xfrm>
            <a:off x="713232" y="2980944"/>
            <a:ext cx="73152" cy="73152"/>
          </a:xfrm>
          <a:prstGeom prst="ellipse">
            <a:avLst/>
          </a:prstGeom>
          <a:solidFill>
            <a:srgbClr val="C5F26D"/>
          </a:solidFill>
          <a:ln w="12700">
            <a:solidFill>
              <a:srgbClr val="C5F26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7824" y="2907792"/>
            <a:ext cx="516636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F6F2E8"/>
                </a:solidFill>
              </a:rPr>
              <a:t>D0 is easier than IP102 in this run.</a:t>
            </a:r>
            <a:endParaRPr lang="en-US" sz="1380" dirty="0"/>
          </a:p>
        </p:txBody>
      </p:sp>
      <p:sp>
        <p:nvSpPr>
          <p:cNvPr id="12" name="Shape 10"/>
          <p:cNvSpPr/>
          <p:nvPr/>
        </p:nvSpPr>
        <p:spPr>
          <a:xfrm>
            <a:off x="713232" y="3374136"/>
            <a:ext cx="73152" cy="73152"/>
          </a:xfrm>
          <a:prstGeom prst="ellipse">
            <a:avLst/>
          </a:prstGeom>
          <a:solidFill>
            <a:srgbClr val="C5F26D"/>
          </a:solidFill>
          <a:ln w="12700">
            <a:solidFill>
              <a:srgbClr val="C5F26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77824" y="3300984"/>
            <a:ext cx="516636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F6F2E8"/>
                </a:solidFill>
              </a:rPr>
              <a:t>Reached very high validation accuracy.</a:t>
            </a:r>
            <a:endParaRPr lang="en-US" sz="1380" dirty="0"/>
          </a:p>
        </p:txBody>
      </p:sp>
      <p:sp>
        <p:nvSpPr>
          <p:cNvPr id="14" name="Shape 12"/>
          <p:cNvSpPr/>
          <p:nvPr/>
        </p:nvSpPr>
        <p:spPr>
          <a:xfrm>
            <a:off x="713232" y="3767328"/>
            <a:ext cx="73152" cy="73152"/>
          </a:xfrm>
          <a:prstGeom prst="ellipse">
            <a:avLst/>
          </a:prstGeom>
          <a:solidFill>
            <a:srgbClr val="C5F26D"/>
          </a:solidFill>
          <a:ln w="12700">
            <a:solidFill>
              <a:srgbClr val="C5F26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7824" y="3694176"/>
            <a:ext cx="516636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F6F2E8"/>
                </a:solidFill>
              </a:rPr>
              <a:t>Best validation accuracy: 99.11%.</a:t>
            </a:r>
            <a:endParaRPr lang="en-US" sz="1380" dirty="0"/>
          </a:p>
        </p:txBody>
      </p:sp>
      <p:sp>
        <p:nvSpPr>
          <p:cNvPr id="16" name="Text 14"/>
          <p:cNvSpPr/>
          <p:nvPr/>
        </p:nvSpPr>
        <p:spPr>
          <a:xfrm>
            <a:off x="731520" y="480060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5F26D"/>
                </a:solidFill>
              </a:rPr>
              <a:t>99.11%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446520" y="1207008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F6F2E8"/>
                </a:solidFill>
              </a:rPr>
              <a:t>Epoch 1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7818120" y="1170432"/>
            <a:ext cx="2286000" cy="201168"/>
          </a:xfrm>
          <a:prstGeom prst="roundRect">
            <a:avLst>
              <a:gd name="adj" fmla="val 18182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818120" y="1170432"/>
            <a:ext cx="2167357" cy="201168"/>
          </a:xfrm>
          <a:prstGeom prst="roundRect">
            <a:avLst>
              <a:gd name="adj" fmla="val 18182"/>
            </a:avLst>
          </a:prstGeom>
          <a:solidFill>
            <a:srgbClr val="8FE1AE"/>
          </a:solidFill>
          <a:ln w="12700">
            <a:solidFill>
              <a:srgbClr val="8FE1A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241280" y="1197864"/>
            <a:ext cx="5669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5F26D"/>
                </a:solidFill>
              </a:rPr>
              <a:t>94.81%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446520" y="1709928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F6F2E8"/>
                </a:solidFill>
              </a:rPr>
              <a:t>Epoch 4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7818120" y="1673352"/>
            <a:ext cx="2286000" cy="201168"/>
          </a:xfrm>
          <a:prstGeom prst="roundRect">
            <a:avLst>
              <a:gd name="adj" fmla="val 18182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818120" y="1673352"/>
            <a:ext cx="2248738" cy="201168"/>
          </a:xfrm>
          <a:prstGeom prst="roundRect">
            <a:avLst>
              <a:gd name="adj" fmla="val 18182"/>
            </a:avLst>
          </a:prstGeom>
          <a:solidFill>
            <a:srgbClr val="8FE1AE"/>
          </a:solidFill>
          <a:ln w="12700">
            <a:solidFill>
              <a:srgbClr val="8FE1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241280" y="1700784"/>
            <a:ext cx="5669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5F26D"/>
                </a:solidFill>
              </a:rPr>
              <a:t>98.37%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446520" y="2212848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F6F2E8"/>
                </a:solidFill>
              </a:rPr>
              <a:t>Epoch 6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7818120" y="2176272"/>
            <a:ext cx="2286000" cy="201168"/>
          </a:xfrm>
          <a:prstGeom prst="roundRect">
            <a:avLst>
              <a:gd name="adj" fmla="val 18182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818120" y="2176272"/>
            <a:ext cx="2265655" cy="201168"/>
          </a:xfrm>
          <a:prstGeom prst="roundRect">
            <a:avLst>
              <a:gd name="adj" fmla="val 18182"/>
            </a:avLst>
          </a:prstGeom>
          <a:solidFill>
            <a:srgbClr val="8FE1AE"/>
          </a:solidFill>
          <a:ln w="12700">
            <a:solidFill>
              <a:srgbClr val="8FE1A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241280" y="2203704"/>
            <a:ext cx="5669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5F26D"/>
                </a:solidFill>
              </a:rPr>
              <a:t>99.11%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446520" y="2715768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F6F2E8"/>
                </a:solidFill>
              </a:rPr>
              <a:t>Epoch 10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7818120" y="2679192"/>
            <a:ext cx="2286000" cy="201168"/>
          </a:xfrm>
          <a:prstGeom prst="roundRect">
            <a:avLst>
              <a:gd name="adj" fmla="val 18182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818120" y="2679192"/>
            <a:ext cx="2235022" cy="201168"/>
          </a:xfrm>
          <a:prstGeom prst="roundRect">
            <a:avLst>
              <a:gd name="adj" fmla="val 18182"/>
            </a:avLst>
          </a:prstGeom>
          <a:solidFill>
            <a:srgbClr val="8FE1AE"/>
          </a:solidFill>
          <a:ln w="12700">
            <a:solidFill>
              <a:srgbClr val="8FE1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241280" y="2706624"/>
            <a:ext cx="5669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5F26D"/>
                </a:solidFill>
              </a:rPr>
              <a:t>97.77%</a:t>
            </a:r>
            <a:endParaRPr lang="en-US" sz="800" dirty="0"/>
          </a:p>
        </p:txBody>
      </p:sp>
    </p:spTree>
  </p:cSld>
  <p:transition spd="med">
    <p:wipe dir="l"/>
  </p:transition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1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C16"/>
          </a:solidFill>
          <a:ln w="12700">
            <a:solidFill>
              <a:srgbClr val="071C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0">
            <a:off x="-914400" y="0"/>
            <a:ext cx="5669280" cy="6858000"/>
          </a:xfrm>
          <a:prstGeom prst="chevron">
            <a:avLst/>
          </a:prstGeom>
          <a:solidFill>
            <a:srgbClr val="0B6B49">
              <a:alpha val="32000"/>
            </a:srgbClr>
          </a:solidFill>
          <a:ln w="12700">
            <a:solidFill>
              <a:srgbClr val="0B6B4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-1280160"/>
            <a:ext cx="4754880" cy="4754880"/>
          </a:xfrm>
          <a:prstGeom prst="arc">
            <a:avLst/>
          </a:prstGeom>
          <a:solidFill>
            <a:srgbClr val="8FE1AE">
              <a:alpha val="12000"/>
            </a:srgbClr>
          </a:solidFill>
          <a:ln w="12700">
            <a:solidFill>
              <a:srgbClr val="8FE1AE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2918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FE1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Step 4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0652760" y="32918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B6C9BE"/>
                </a:solidFill>
              </a:rPr>
              <a:t>12 / 20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40080" y="914400"/>
            <a:ext cx="5669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6F2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RAN model notebook</a:t>
            </a:r>
            <a:endParaRPr lang="en-US" sz="3100" dirty="0"/>
          </a:p>
        </p:txBody>
      </p:sp>
      <p:sp>
        <p:nvSpPr>
          <p:cNvPr id="8" name="Shape 6"/>
          <p:cNvSpPr/>
          <p:nvPr/>
        </p:nvSpPr>
        <p:spPr>
          <a:xfrm>
            <a:off x="713232" y="2587752"/>
            <a:ext cx="73152" cy="73152"/>
          </a:xfrm>
          <a:prstGeom prst="ellipse">
            <a:avLst/>
          </a:prstGeom>
          <a:solidFill>
            <a:srgbClr val="C5F26D"/>
          </a:solidFill>
          <a:ln w="12700">
            <a:solidFill>
              <a:srgbClr val="C5F26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7824" y="2514600"/>
            <a:ext cx="516636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F6F2E8"/>
                </a:solidFill>
              </a:rPr>
              <a:t>Residual Attention Network.</a:t>
            </a:r>
            <a:endParaRPr lang="en-US" sz="1380" dirty="0"/>
          </a:p>
        </p:txBody>
      </p:sp>
      <p:sp>
        <p:nvSpPr>
          <p:cNvPr id="10" name="Shape 8"/>
          <p:cNvSpPr/>
          <p:nvPr/>
        </p:nvSpPr>
        <p:spPr>
          <a:xfrm>
            <a:off x="713232" y="2980944"/>
            <a:ext cx="73152" cy="73152"/>
          </a:xfrm>
          <a:prstGeom prst="ellipse">
            <a:avLst/>
          </a:prstGeom>
          <a:solidFill>
            <a:srgbClr val="C5F26D"/>
          </a:solidFill>
          <a:ln w="12700">
            <a:solidFill>
              <a:srgbClr val="C5F26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7824" y="2907792"/>
            <a:ext cx="516636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F6F2E8"/>
                </a:solidFill>
              </a:rPr>
              <a:t>Uses trunk branch and mask branch.</a:t>
            </a:r>
            <a:endParaRPr lang="en-US" sz="1380" dirty="0"/>
          </a:p>
        </p:txBody>
      </p:sp>
      <p:sp>
        <p:nvSpPr>
          <p:cNvPr id="12" name="Shape 10"/>
          <p:cNvSpPr/>
          <p:nvPr/>
        </p:nvSpPr>
        <p:spPr>
          <a:xfrm>
            <a:off x="713232" y="3374136"/>
            <a:ext cx="73152" cy="73152"/>
          </a:xfrm>
          <a:prstGeom prst="ellipse">
            <a:avLst/>
          </a:prstGeom>
          <a:solidFill>
            <a:srgbClr val="C5F26D"/>
          </a:solidFill>
          <a:ln w="12700">
            <a:solidFill>
              <a:srgbClr val="C5F26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77824" y="3300984"/>
            <a:ext cx="516636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F6F2E8"/>
                </a:solidFill>
              </a:rPr>
              <a:t>Learns where the model should focus.</a:t>
            </a:r>
            <a:endParaRPr lang="en-US" sz="1380" dirty="0"/>
          </a:p>
        </p:txBody>
      </p:sp>
      <p:sp>
        <p:nvSpPr>
          <p:cNvPr id="14" name="Shape 12"/>
          <p:cNvSpPr/>
          <p:nvPr/>
        </p:nvSpPr>
        <p:spPr>
          <a:xfrm>
            <a:off x="713232" y="3767328"/>
            <a:ext cx="73152" cy="73152"/>
          </a:xfrm>
          <a:prstGeom prst="ellipse">
            <a:avLst/>
          </a:prstGeom>
          <a:solidFill>
            <a:srgbClr val="C5F26D"/>
          </a:solidFill>
          <a:ln w="12700">
            <a:solidFill>
              <a:srgbClr val="C5F26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7824" y="3694176"/>
            <a:ext cx="516636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F6F2E8"/>
                </a:solidFill>
              </a:rPr>
              <a:t>Notebook source is included for defense review.</a:t>
            </a:r>
            <a:endParaRPr lang="en-US" sz="1380" dirty="0"/>
          </a:p>
        </p:txBody>
      </p:sp>
      <p:sp>
        <p:nvSpPr>
          <p:cNvPr id="16" name="Text 14"/>
          <p:cNvSpPr/>
          <p:nvPr/>
        </p:nvSpPr>
        <p:spPr>
          <a:xfrm>
            <a:off x="749808" y="5349240"/>
            <a:ext cx="5257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D8C77A"/>
                </a:solidFill>
              </a:rPr>
              <a:t>Final RAN metric was not included in the pasted results.</a:t>
            </a:r>
            <a:endParaRPr lang="en-US" sz="1060" dirty="0"/>
          </a:p>
        </p:txBody>
      </p:sp>
      <p:sp>
        <p:nvSpPr>
          <p:cNvPr id="17" name="Shape 15"/>
          <p:cNvSpPr/>
          <p:nvPr/>
        </p:nvSpPr>
        <p:spPr>
          <a:xfrm>
            <a:off x="6537960" y="1133856"/>
            <a:ext cx="4297680" cy="548640"/>
          </a:xfrm>
          <a:prstGeom prst="roundRect">
            <a:avLst>
              <a:gd name="adj" fmla="val 13333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8FE1AE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702552" y="1261872"/>
            <a:ext cx="292608" cy="292608"/>
          </a:xfrm>
          <a:prstGeom prst="ellipse">
            <a:avLst/>
          </a:prstGeom>
          <a:solidFill>
            <a:srgbClr val="8FE1AE"/>
          </a:solidFill>
          <a:ln w="12700">
            <a:solidFill>
              <a:srgbClr val="8FE1A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02552" y="1325880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71C16"/>
                </a:solidFill>
              </a:rPr>
              <a:t>1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132320" y="1298448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F6F2E8"/>
                </a:solidFill>
              </a:rPr>
              <a:t>Input</a:t>
            </a:r>
            <a:endParaRPr lang="en-US" sz="1280" dirty="0"/>
          </a:p>
        </p:txBody>
      </p:sp>
      <p:sp>
        <p:nvSpPr>
          <p:cNvPr id="21" name="Shape 19"/>
          <p:cNvSpPr/>
          <p:nvPr/>
        </p:nvSpPr>
        <p:spPr>
          <a:xfrm>
            <a:off x="6537960" y="1993392"/>
            <a:ext cx="4297680" cy="548640"/>
          </a:xfrm>
          <a:prstGeom prst="roundRect">
            <a:avLst>
              <a:gd name="adj" fmla="val 13333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8FE1AE">
                <a:alpha val="4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702552" y="2121408"/>
            <a:ext cx="292608" cy="292608"/>
          </a:xfrm>
          <a:prstGeom prst="ellipse">
            <a:avLst/>
          </a:prstGeom>
          <a:solidFill>
            <a:srgbClr val="8FE1AE"/>
          </a:solidFill>
          <a:ln w="12700">
            <a:solidFill>
              <a:srgbClr val="8FE1A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02552" y="2185416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71C16"/>
                </a:solidFill>
              </a:rPr>
              <a:t>2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7132320" y="2157984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F6F2E8"/>
                </a:solidFill>
              </a:rPr>
              <a:t>Trunk branch</a:t>
            </a:r>
            <a:endParaRPr lang="en-US" sz="1280" dirty="0"/>
          </a:p>
        </p:txBody>
      </p:sp>
      <p:sp>
        <p:nvSpPr>
          <p:cNvPr id="25" name="Shape 23"/>
          <p:cNvSpPr/>
          <p:nvPr/>
        </p:nvSpPr>
        <p:spPr>
          <a:xfrm>
            <a:off x="6537960" y="2852928"/>
            <a:ext cx="4297680" cy="548640"/>
          </a:xfrm>
          <a:prstGeom prst="roundRect">
            <a:avLst>
              <a:gd name="adj" fmla="val 13333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8FE1AE">
                <a:alpha val="4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02552" y="2980944"/>
            <a:ext cx="292608" cy="292608"/>
          </a:xfrm>
          <a:prstGeom prst="ellipse">
            <a:avLst/>
          </a:prstGeom>
          <a:solidFill>
            <a:srgbClr val="8FE1AE"/>
          </a:solidFill>
          <a:ln w="12700">
            <a:solidFill>
              <a:srgbClr val="8FE1A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02552" y="3044952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71C16"/>
                </a:solidFill>
              </a:rPr>
              <a:t>3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7132320" y="301752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F6F2E8"/>
                </a:solidFill>
              </a:rPr>
              <a:t>Mask branch</a:t>
            </a:r>
            <a:endParaRPr lang="en-US" sz="1280" dirty="0"/>
          </a:p>
        </p:txBody>
      </p:sp>
      <p:sp>
        <p:nvSpPr>
          <p:cNvPr id="29" name="Shape 27"/>
          <p:cNvSpPr/>
          <p:nvPr/>
        </p:nvSpPr>
        <p:spPr>
          <a:xfrm>
            <a:off x="6537960" y="3712464"/>
            <a:ext cx="4297680" cy="548640"/>
          </a:xfrm>
          <a:prstGeom prst="roundRect">
            <a:avLst>
              <a:gd name="adj" fmla="val 13333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8FE1AE">
                <a:alpha val="4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702552" y="3840480"/>
            <a:ext cx="292608" cy="292608"/>
          </a:xfrm>
          <a:prstGeom prst="ellipse">
            <a:avLst/>
          </a:prstGeom>
          <a:solidFill>
            <a:srgbClr val="8FE1AE"/>
          </a:solidFill>
          <a:ln w="12700">
            <a:solidFill>
              <a:srgbClr val="8FE1A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02552" y="3904488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71C16"/>
                </a:solidFill>
              </a:rPr>
              <a:t>4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7132320" y="3877056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F6F2E8"/>
                </a:solidFill>
              </a:rPr>
              <a:t>Attention output</a:t>
            </a:r>
            <a:endParaRPr lang="en-US" sz="1280" dirty="0"/>
          </a:p>
        </p:txBody>
      </p:sp>
      <p:sp>
        <p:nvSpPr>
          <p:cNvPr id="33" name="Text 31">
            <a:hlinkClick r:id="rId1" tooltip=""/>
          </p:cNvPr>
          <p:cNvSpPr/>
          <p:nvPr/>
        </p:nvSpPr>
        <p:spPr>
          <a:xfrm>
            <a:off x="749808" y="5815584"/>
            <a:ext cx="822960" cy="146304"/>
          </a:xfrm>
          <a:prstGeom prst="rect">
            <a:avLst/>
          </a:prstGeom>
          <a:solidFill>
            <a:srgbClr val="8FE1AE"/>
          </a:solidFill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800" b="1" u="sng" dirty="0">
                <a:solidFill>
                  <a:srgbClr val="071C16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Source link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709928" y="5815584"/>
            <a:ext cx="4343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B6C9BE"/>
                </a:solidFill>
              </a:rPr>
              <a:t>https://www.kaggle.com/code/mohamedtareqfarouq/resnet-pcsa-mask-advran</a:t>
            </a:r>
            <a:endParaRPr lang="en-US" sz="680" dirty="0"/>
          </a:p>
        </p:txBody>
      </p:sp>
    </p:spTree>
  </p:cSld>
  <p:transition spd="med">
    <p:fade/>
  </p:transition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1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C16"/>
          </a:solidFill>
          <a:ln w="12700">
            <a:solidFill>
              <a:srgbClr val="071C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0">
            <a:off x="-914400" y="0"/>
            <a:ext cx="5669280" cy="6858000"/>
          </a:xfrm>
          <a:prstGeom prst="chevron">
            <a:avLst/>
          </a:prstGeom>
          <a:solidFill>
            <a:srgbClr val="0B6B49">
              <a:alpha val="32000"/>
            </a:srgbClr>
          </a:solidFill>
          <a:ln w="12700">
            <a:solidFill>
              <a:srgbClr val="0B6B4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-1280160"/>
            <a:ext cx="4754880" cy="4754880"/>
          </a:xfrm>
          <a:prstGeom prst="arc">
            <a:avLst/>
          </a:prstGeom>
          <a:solidFill>
            <a:srgbClr val="8FE1AE">
              <a:alpha val="12000"/>
            </a:srgbClr>
          </a:solidFill>
          <a:ln w="12700">
            <a:solidFill>
              <a:srgbClr val="8FE1AE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2918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FE1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Step 5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0652760" y="32918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B6C9BE"/>
                </a:solidFill>
              </a:rPr>
              <a:t>13 / 20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40080" y="914400"/>
            <a:ext cx="5669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6F2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MMAL-Net notebook</a:t>
            </a:r>
            <a:endParaRPr lang="en-US" sz="3100" dirty="0"/>
          </a:p>
        </p:txBody>
      </p:sp>
      <p:sp>
        <p:nvSpPr>
          <p:cNvPr id="8" name="Shape 6"/>
          <p:cNvSpPr/>
          <p:nvPr/>
        </p:nvSpPr>
        <p:spPr>
          <a:xfrm>
            <a:off x="713232" y="2587752"/>
            <a:ext cx="73152" cy="73152"/>
          </a:xfrm>
          <a:prstGeom prst="ellipse">
            <a:avLst/>
          </a:prstGeom>
          <a:solidFill>
            <a:srgbClr val="C5F26D"/>
          </a:solidFill>
          <a:ln w="12700">
            <a:solidFill>
              <a:srgbClr val="C5F26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7824" y="2514600"/>
            <a:ext cx="516636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F6F2E8"/>
                </a:solidFill>
              </a:rPr>
              <a:t>Fine-grained classification model.</a:t>
            </a:r>
            <a:endParaRPr lang="en-US" sz="1380" dirty="0"/>
          </a:p>
        </p:txBody>
      </p:sp>
      <p:sp>
        <p:nvSpPr>
          <p:cNvPr id="10" name="Shape 8"/>
          <p:cNvSpPr/>
          <p:nvPr/>
        </p:nvSpPr>
        <p:spPr>
          <a:xfrm>
            <a:off x="713232" y="2980944"/>
            <a:ext cx="73152" cy="73152"/>
          </a:xfrm>
          <a:prstGeom prst="ellipse">
            <a:avLst/>
          </a:prstGeom>
          <a:solidFill>
            <a:srgbClr val="C5F26D"/>
          </a:solidFill>
          <a:ln w="12700">
            <a:solidFill>
              <a:srgbClr val="C5F26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7824" y="2907792"/>
            <a:ext cx="516636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F6F2E8"/>
                </a:solidFill>
              </a:rPr>
              <a:t>Uses raw, object, and part branches.</a:t>
            </a:r>
            <a:endParaRPr lang="en-US" sz="1380" dirty="0"/>
          </a:p>
        </p:txBody>
      </p:sp>
      <p:sp>
        <p:nvSpPr>
          <p:cNvPr id="12" name="Shape 10"/>
          <p:cNvSpPr/>
          <p:nvPr/>
        </p:nvSpPr>
        <p:spPr>
          <a:xfrm>
            <a:off x="713232" y="3374136"/>
            <a:ext cx="73152" cy="73152"/>
          </a:xfrm>
          <a:prstGeom prst="ellipse">
            <a:avLst/>
          </a:prstGeom>
          <a:solidFill>
            <a:srgbClr val="C5F26D"/>
          </a:solidFill>
          <a:ln w="12700">
            <a:solidFill>
              <a:srgbClr val="C5F26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77824" y="3300984"/>
            <a:ext cx="516636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F6F2E8"/>
                </a:solidFill>
              </a:rPr>
              <a:t>AOLM localizes object region.</a:t>
            </a:r>
            <a:endParaRPr lang="en-US" sz="1380" dirty="0"/>
          </a:p>
        </p:txBody>
      </p:sp>
      <p:sp>
        <p:nvSpPr>
          <p:cNvPr id="14" name="Shape 12"/>
          <p:cNvSpPr/>
          <p:nvPr/>
        </p:nvSpPr>
        <p:spPr>
          <a:xfrm>
            <a:off x="713232" y="3767328"/>
            <a:ext cx="73152" cy="73152"/>
          </a:xfrm>
          <a:prstGeom prst="ellipse">
            <a:avLst/>
          </a:prstGeom>
          <a:solidFill>
            <a:srgbClr val="C5F26D"/>
          </a:solidFill>
          <a:ln w="12700">
            <a:solidFill>
              <a:srgbClr val="C5F26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7824" y="3694176"/>
            <a:ext cx="516636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F6F2E8"/>
                </a:solidFill>
              </a:rPr>
              <a:t>APPM proposes discriminative parts.</a:t>
            </a:r>
            <a:endParaRPr lang="en-US" sz="1380" dirty="0"/>
          </a:p>
        </p:txBody>
      </p:sp>
      <p:sp>
        <p:nvSpPr>
          <p:cNvPr id="16" name="Text 14"/>
          <p:cNvSpPr/>
          <p:nvPr/>
        </p:nvSpPr>
        <p:spPr>
          <a:xfrm>
            <a:off x="749808" y="5349240"/>
            <a:ext cx="5257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D8C77A"/>
                </a:solidFill>
              </a:rPr>
              <a:t>Final MMAL metric was not included in the pasted results.</a:t>
            </a:r>
            <a:endParaRPr lang="en-US" sz="1060" dirty="0"/>
          </a:p>
        </p:txBody>
      </p:sp>
      <p:sp>
        <p:nvSpPr>
          <p:cNvPr id="17" name="Shape 15"/>
          <p:cNvSpPr/>
          <p:nvPr/>
        </p:nvSpPr>
        <p:spPr>
          <a:xfrm>
            <a:off x="6537960" y="1133856"/>
            <a:ext cx="4297680" cy="548640"/>
          </a:xfrm>
          <a:prstGeom prst="roundRect">
            <a:avLst>
              <a:gd name="adj" fmla="val 13333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8FE1AE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702552" y="1261872"/>
            <a:ext cx="292608" cy="292608"/>
          </a:xfrm>
          <a:prstGeom prst="ellipse">
            <a:avLst/>
          </a:prstGeom>
          <a:solidFill>
            <a:srgbClr val="8FE1AE"/>
          </a:solidFill>
          <a:ln w="12700">
            <a:solidFill>
              <a:srgbClr val="8FE1A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02552" y="1325880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71C16"/>
                </a:solidFill>
              </a:rPr>
              <a:t>1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132320" y="1298448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F6F2E8"/>
                </a:solidFill>
              </a:rPr>
              <a:t>Raw image</a:t>
            </a:r>
            <a:endParaRPr lang="en-US" sz="1280" dirty="0"/>
          </a:p>
        </p:txBody>
      </p:sp>
      <p:sp>
        <p:nvSpPr>
          <p:cNvPr id="21" name="Shape 19"/>
          <p:cNvSpPr/>
          <p:nvPr/>
        </p:nvSpPr>
        <p:spPr>
          <a:xfrm>
            <a:off x="6537960" y="1993392"/>
            <a:ext cx="4297680" cy="548640"/>
          </a:xfrm>
          <a:prstGeom prst="roundRect">
            <a:avLst>
              <a:gd name="adj" fmla="val 13333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8FE1AE">
                <a:alpha val="4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702552" y="2121408"/>
            <a:ext cx="292608" cy="292608"/>
          </a:xfrm>
          <a:prstGeom prst="ellipse">
            <a:avLst/>
          </a:prstGeom>
          <a:solidFill>
            <a:srgbClr val="8FE1AE"/>
          </a:solidFill>
          <a:ln w="12700">
            <a:solidFill>
              <a:srgbClr val="8FE1A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02552" y="2185416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71C16"/>
                </a:solidFill>
              </a:rPr>
              <a:t>2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7132320" y="2157984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F6F2E8"/>
                </a:solidFill>
              </a:rPr>
              <a:t>AOLM</a:t>
            </a:r>
            <a:endParaRPr lang="en-US" sz="1280" dirty="0"/>
          </a:p>
        </p:txBody>
      </p:sp>
      <p:sp>
        <p:nvSpPr>
          <p:cNvPr id="25" name="Shape 23"/>
          <p:cNvSpPr/>
          <p:nvPr/>
        </p:nvSpPr>
        <p:spPr>
          <a:xfrm>
            <a:off x="6537960" y="2852928"/>
            <a:ext cx="4297680" cy="548640"/>
          </a:xfrm>
          <a:prstGeom prst="roundRect">
            <a:avLst>
              <a:gd name="adj" fmla="val 13333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8FE1AE">
                <a:alpha val="4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02552" y="2980944"/>
            <a:ext cx="292608" cy="292608"/>
          </a:xfrm>
          <a:prstGeom prst="ellipse">
            <a:avLst/>
          </a:prstGeom>
          <a:solidFill>
            <a:srgbClr val="8FE1AE"/>
          </a:solidFill>
          <a:ln w="12700">
            <a:solidFill>
              <a:srgbClr val="8FE1A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02552" y="3044952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71C16"/>
                </a:solidFill>
              </a:rPr>
              <a:t>3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7132320" y="301752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F6F2E8"/>
                </a:solidFill>
              </a:rPr>
              <a:t>APPM</a:t>
            </a:r>
            <a:endParaRPr lang="en-US" sz="1280" dirty="0"/>
          </a:p>
        </p:txBody>
      </p:sp>
      <p:sp>
        <p:nvSpPr>
          <p:cNvPr id="29" name="Shape 27"/>
          <p:cNvSpPr/>
          <p:nvPr/>
        </p:nvSpPr>
        <p:spPr>
          <a:xfrm>
            <a:off x="6537960" y="3712464"/>
            <a:ext cx="4297680" cy="548640"/>
          </a:xfrm>
          <a:prstGeom prst="roundRect">
            <a:avLst>
              <a:gd name="adj" fmla="val 13333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8FE1AE">
                <a:alpha val="4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702552" y="3840480"/>
            <a:ext cx="292608" cy="292608"/>
          </a:xfrm>
          <a:prstGeom prst="ellipse">
            <a:avLst/>
          </a:prstGeom>
          <a:solidFill>
            <a:srgbClr val="8FE1AE"/>
          </a:solidFill>
          <a:ln w="12700">
            <a:solidFill>
              <a:srgbClr val="8FE1A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02552" y="3904488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71C16"/>
                </a:solidFill>
              </a:rPr>
              <a:t>4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7132320" y="3877056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F6F2E8"/>
                </a:solidFill>
              </a:rPr>
              <a:t>Parts</a:t>
            </a:r>
            <a:endParaRPr lang="en-US" sz="1280" dirty="0"/>
          </a:p>
        </p:txBody>
      </p:sp>
      <p:sp>
        <p:nvSpPr>
          <p:cNvPr id="33" name="Text 31">
            <a:hlinkClick r:id="rId1" tooltip=""/>
          </p:cNvPr>
          <p:cNvSpPr/>
          <p:nvPr/>
        </p:nvSpPr>
        <p:spPr>
          <a:xfrm>
            <a:off x="749808" y="5815584"/>
            <a:ext cx="822960" cy="146304"/>
          </a:xfrm>
          <a:prstGeom prst="rect">
            <a:avLst/>
          </a:prstGeom>
          <a:solidFill>
            <a:srgbClr val="8FE1AE"/>
          </a:solidFill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800" b="1" u="sng" dirty="0">
                <a:solidFill>
                  <a:srgbClr val="071C16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Source link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709928" y="5815584"/>
            <a:ext cx="4343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B6C9BE"/>
                </a:solidFill>
              </a:rPr>
              <a:t>https://www.kaggle.com/code/to7a12/notebookc8f9f91bf6</a:t>
            </a:r>
            <a:endParaRPr lang="en-US" sz="680" dirty="0"/>
          </a:p>
        </p:txBody>
      </p:sp>
    </p:spTree>
  </p:cSld>
  <p:transition spd="med">
    <p:push dir="l"/>
  </p:transition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71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C16"/>
          </a:solidFill>
          <a:ln w="12700">
            <a:solidFill>
              <a:srgbClr val="071C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0">
            <a:off x="-914400" y="0"/>
            <a:ext cx="5669280" cy="6858000"/>
          </a:xfrm>
          <a:prstGeom prst="chevron">
            <a:avLst/>
          </a:prstGeom>
          <a:solidFill>
            <a:srgbClr val="0B6B49">
              <a:alpha val="32000"/>
            </a:srgbClr>
          </a:solidFill>
          <a:ln w="12700">
            <a:solidFill>
              <a:srgbClr val="0B6B4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-1280160"/>
            <a:ext cx="4754880" cy="4754880"/>
          </a:xfrm>
          <a:prstGeom prst="arc">
            <a:avLst/>
          </a:prstGeom>
          <a:solidFill>
            <a:srgbClr val="8FE1AE">
              <a:alpha val="12000"/>
            </a:srgbClr>
          </a:solidFill>
          <a:ln w="12700">
            <a:solidFill>
              <a:srgbClr val="8FE1AE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2918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FE1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Our Results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0652760" y="32918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B6C9BE"/>
                </a:solidFill>
              </a:rPr>
              <a:t>14 / 20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40080" y="914400"/>
            <a:ext cx="5669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6F2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Our completed results</a:t>
            </a:r>
            <a:endParaRPr lang="en-US" sz="3100" dirty="0"/>
          </a:p>
        </p:txBody>
      </p:sp>
      <p:sp>
        <p:nvSpPr>
          <p:cNvPr id="8" name="Shape 6"/>
          <p:cNvSpPr/>
          <p:nvPr/>
        </p:nvSpPr>
        <p:spPr>
          <a:xfrm>
            <a:off x="713232" y="2587752"/>
            <a:ext cx="73152" cy="73152"/>
          </a:xfrm>
          <a:prstGeom prst="ellipse">
            <a:avLst/>
          </a:prstGeom>
          <a:solidFill>
            <a:srgbClr val="C5F26D"/>
          </a:solidFill>
          <a:ln w="12700">
            <a:solidFill>
              <a:srgbClr val="C5F26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7824" y="2514600"/>
            <a:ext cx="516636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F6F2E8"/>
                </a:solidFill>
              </a:rPr>
              <a:t>Best IP102 result: ResNet50 baseline at 67.99%.</a:t>
            </a:r>
            <a:endParaRPr lang="en-US" sz="1380" dirty="0"/>
          </a:p>
        </p:txBody>
      </p:sp>
      <p:sp>
        <p:nvSpPr>
          <p:cNvPr id="10" name="Shape 8"/>
          <p:cNvSpPr/>
          <p:nvPr/>
        </p:nvSpPr>
        <p:spPr>
          <a:xfrm>
            <a:off x="713232" y="2980944"/>
            <a:ext cx="73152" cy="73152"/>
          </a:xfrm>
          <a:prstGeom prst="ellipse">
            <a:avLst/>
          </a:prstGeom>
          <a:solidFill>
            <a:srgbClr val="C5F26D"/>
          </a:solidFill>
          <a:ln w="12700">
            <a:solidFill>
              <a:srgbClr val="C5F26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7824" y="2907792"/>
            <a:ext cx="516636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F6F2E8"/>
                </a:solidFill>
              </a:rPr>
              <a:t>FPN on D0 reached 99.11%.</a:t>
            </a:r>
            <a:endParaRPr lang="en-US" sz="1380" dirty="0"/>
          </a:p>
        </p:txBody>
      </p:sp>
      <p:sp>
        <p:nvSpPr>
          <p:cNvPr id="12" name="Shape 10"/>
          <p:cNvSpPr/>
          <p:nvPr/>
        </p:nvSpPr>
        <p:spPr>
          <a:xfrm>
            <a:off x="713232" y="3374136"/>
            <a:ext cx="73152" cy="73152"/>
          </a:xfrm>
          <a:prstGeom prst="ellipse">
            <a:avLst/>
          </a:prstGeom>
          <a:solidFill>
            <a:srgbClr val="C5F26D"/>
          </a:solidFill>
          <a:ln w="12700">
            <a:solidFill>
              <a:srgbClr val="C5F26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77824" y="3300984"/>
            <a:ext cx="516636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F6F2E8"/>
                </a:solidFill>
              </a:rPr>
              <a:t>AlexNet confirms that deeper models are needed.</a:t>
            </a:r>
            <a:endParaRPr lang="en-US" sz="1380" dirty="0"/>
          </a:p>
        </p:txBody>
      </p:sp>
      <p:sp>
        <p:nvSpPr>
          <p:cNvPr id="14" name="Shape 12"/>
          <p:cNvSpPr/>
          <p:nvPr/>
        </p:nvSpPr>
        <p:spPr>
          <a:xfrm>
            <a:off x="713232" y="3767328"/>
            <a:ext cx="73152" cy="73152"/>
          </a:xfrm>
          <a:prstGeom prst="ellipse">
            <a:avLst/>
          </a:prstGeom>
          <a:solidFill>
            <a:srgbClr val="C5F26D"/>
          </a:solidFill>
          <a:ln w="12700">
            <a:solidFill>
              <a:srgbClr val="C5F26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7824" y="3694176"/>
            <a:ext cx="516636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F6F2E8"/>
                </a:solidFill>
              </a:rPr>
              <a:t>RAN and MMAL notebooks are linked for model continuation.</a:t>
            </a:r>
            <a:endParaRPr lang="en-US" sz="1380" dirty="0"/>
          </a:p>
        </p:txBody>
      </p:sp>
      <p:sp>
        <p:nvSpPr>
          <p:cNvPr id="16" name="Text 14"/>
          <p:cNvSpPr/>
          <p:nvPr/>
        </p:nvSpPr>
        <p:spPr>
          <a:xfrm>
            <a:off x="6446520" y="1207008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F6F2E8"/>
                </a:solidFill>
              </a:rPr>
              <a:t>AlexNet baseline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7818120" y="1170432"/>
            <a:ext cx="2286000" cy="201168"/>
          </a:xfrm>
          <a:prstGeom prst="roundRect">
            <a:avLst>
              <a:gd name="adj" fmla="val 18182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18120" y="1170432"/>
            <a:ext cx="1378001" cy="201168"/>
          </a:xfrm>
          <a:prstGeom prst="roundRect">
            <a:avLst>
              <a:gd name="adj" fmla="val 18182"/>
            </a:avLst>
          </a:prstGeom>
          <a:solidFill>
            <a:srgbClr val="8FE1AE"/>
          </a:solidFill>
          <a:ln w="12700">
            <a:solidFill>
              <a:srgbClr val="8FE1A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241280" y="1197864"/>
            <a:ext cx="5669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5F26D"/>
                </a:solidFill>
              </a:rPr>
              <a:t>60.28%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446520" y="1709928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F6F2E8"/>
                </a:solidFill>
              </a:rPr>
              <a:t>ResNet50 baseline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7818120" y="1673352"/>
            <a:ext cx="2286000" cy="201168"/>
          </a:xfrm>
          <a:prstGeom prst="roundRect">
            <a:avLst>
              <a:gd name="adj" fmla="val 18182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818120" y="1673352"/>
            <a:ext cx="1554251" cy="201168"/>
          </a:xfrm>
          <a:prstGeom prst="roundRect">
            <a:avLst>
              <a:gd name="adj" fmla="val 18182"/>
            </a:avLst>
          </a:prstGeom>
          <a:solidFill>
            <a:srgbClr val="8FE1AE"/>
          </a:solidFill>
          <a:ln w="12700">
            <a:solidFill>
              <a:srgbClr val="8FE1A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241280" y="1700784"/>
            <a:ext cx="5669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5F26D"/>
                </a:solidFill>
              </a:rPr>
              <a:t>67.99%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446520" y="2212848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F6F2E8"/>
                </a:solidFill>
              </a:rPr>
              <a:t>ResNet50 + FPN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7818120" y="2176272"/>
            <a:ext cx="2286000" cy="201168"/>
          </a:xfrm>
          <a:prstGeom prst="roundRect">
            <a:avLst>
              <a:gd name="adj" fmla="val 18182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818120" y="2176272"/>
            <a:ext cx="1506245" cy="201168"/>
          </a:xfrm>
          <a:prstGeom prst="roundRect">
            <a:avLst>
              <a:gd name="adj" fmla="val 18182"/>
            </a:avLst>
          </a:prstGeom>
          <a:solidFill>
            <a:srgbClr val="8FE1AE"/>
          </a:solidFill>
          <a:ln w="12700">
            <a:solidFill>
              <a:srgbClr val="8FE1A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241280" y="2203704"/>
            <a:ext cx="5669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5F26D"/>
                </a:solidFill>
              </a:rPr>
              <a:t>65.89%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446520" y="2715768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F6F2E8"/>
                </a:solidFill>
              </a:rPr>
              <a:t>ResNet50 + FPN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7818120" y="2679192"/>
            <a:ext cx="2286000" cy="201168"/>
          </a:xfrm>
          <a:prstGeom prst="roundRect">
            <a:avLst>
              <a:gd name="adj" fmla="val 18182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818120" y="2679192"/>
            <a:ext cx="2265655" cy="201168"/>
          </a:xfrm>
          <a:prstGeom prst="roundRect">
            <a:avLst>
              <a:gd name="adj" fmla="val 18182"/>
            </a:avLst>
          </a:prstGeom>
          <a:solidFill>
            <a:srgbClr val="8FE1AE"/>
          </a:solidFill>
          <a:ln w="12700">
            <a:solidFill>
              <a:srgbClr val="8FE1A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241280" y="2706624"/>
            <a:ext cx="5669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5F26D"/>
                </a:solidFill>
              </a:rPr>
              <a:t>99.11%</a:t>
            </a:r>
            <a:endParaRPr lang="en-US" sz="800" dirty="0"/>
          </a:p>
        </p:txBody>
      </p:sp>
    </p:spTree>
  </p:cSld>
  <p:transition spd="med">
    <p:wipe dir="l"/>
  </p:transition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71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C16"/>
          </a:solidFill>
          <a:ln w="12700">
            <a:solidFill>
              <a:srgbClr val="071C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0">
            <a:off x="-914400" y="0"/>
            <a:ext cx="5669280" cy="6858000"/>
          </a:xfrm>
          <a:prstGeom prst="chevron">
            <a:avLst/>
          </a:prstGeom>
          <a:solidFill>
            <a:srgbClr val="0B6B49">
              <a:alpha val="32000"/>
            </a:srgbClr>
          </a:solidFill>
          <a:ln w="12700">
            <a:solidFill>
              <a:srgbClr val="0B6B4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-1280160"/>
            <a:ext cx="4754880" cy="4754880"/>
          </a:xfrm>
          <a:prstGeom prst="arc">
            <a:avLst/>
          </a:prstGeom>
          <a:solidFill>
            <a:srgbClr val="8FE1AE">
              <a:alpha val="12000"/>
            </a:srgbClr>
          </a:solidFill>
          <a:ln w="12700">
            <a:solidFill>
              <a:srgbClr val="8FE1AE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2918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FE1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 Comparison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0652760" y="32918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B6C9BE"/>
                </a:solidFill>
              </a:rPr>
              <a:t>15 / 20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40080" y="914400"/>
            <a:ext cx="5669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6F2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Comparison with paper on IP102</a:t>
            </a:r>
            <a:endParaRPr lang="en-US" sz="3100" dirty="0"/>
          </a:p>
        </p:txBody>
      </p:sp>
      <p:sp>
        <p:nvSpPr>
          <p:cNvPr id="8" name="Shape 6"/>
          <p:cNvSpPr/>
          <p:nvPr/>
        </p:nvSpPr>
        <p:spPr>
          <a:xfrm>
            <a:off x="713232" y="2587752"/>
            <a:ext cx="73152" cy="73152"/>
          </a:xfrm>
          <a:prstGeom prst="ellipse">
            <a:avLst/>
          </a:prstGeom>
          <a:solidFill>
            <a:srgbClr val="C5F26D"/>
          </a:solidFill>
          <a:ln w="12700">
            <a:solidFill>
              <a:srgbClr val="C5F26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7824" y="2514600"/>
            <a:ext cx="516636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F6F2E8"/>
                </a:solidFill>
              </a:rPr>
              <a:t>Paper ensemble achieved 74.13%.</a:t>
            </a:r>
            <a:endParaRPr lang="en-US" sz="1380" dirty="0"/>
          </a:p>
        </p:txBody>
      </p:sp>
      <p:sp>
        <p:nvSpPr>
          <p:cNvPr id="10" name="Shape 8"/>
          <p:cNvSpPr/>
          <p:nvPr/>
        </p:nvSpPr>
        <p:spPr>
          <a:xfrm>
            <a:off x="713232" y="2980944"/>
            <a:ext cx="73152" cy="73152"/>
          </a:xfrm>
          <a:prstGeom prst="ellipse">
            <a:avLst/>
          </a:prstGeom>
          <a:solidFill>
            <a:srgbClr val="C5F26D"/>
          </a:solidFill>
          <a:ln w="12700">
            <a:solidFill>
              <a:srgbClr val="C5F26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7824" y="2907792"/>
            <a:ext cx="516636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F6F2E8"/>
                </a:solidFill>
              </a:rPr>
              <a:t>Paper ResNet50 achieved 70.79%.</a:t>
            </a:r>
            <a:endParaRPr lang="en-US" sz="1380" dirty="0"/>
          </a:p>
        </p:txBody>
      </p:sp>
      <p:sp>
        <p:nvSpPr>
          <p:cNvPr id="12" name="Shape 10"/>
          <p:cNvSpPr/>
          <p:nvPr/>
        </p:nvSpPr>
        <p:spPr>
          <a:xfrm>
            <a:off x="713232" y="3374136"/>
            <a:ext cx="73152" cy="73152"/>
          </a:xfrm>
          <a:prstGeom prst="ellipse">
            <a:avLst/>
          </a:prstGeom>
          <a:solidFill>
            <a:srgbClr val="C5F26D"/>
          </a:solidFill>
          <a:ln w="12700">
            <a:solidFill>
              <a:srgbClr val="C5F26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77824" y="3300984"/>
            <a:ext cx="516636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F6F2E8"/>
                </a:solidFill>
              </a:rPr>
              <a:t>Our best IP102 result is 67.99%.</a:t>
            </a:r>
            <a:endParaRPr lang="en-US" sz="1380" dirty="0"/>
          </a:p>
        </p:txBody>
      </p:sp>
      <p:sp>
        <p:nvSpPr>
          <p:cNvPr id="14" name="Shape 12"/>
          <p:cNvSpPr/>
          <p:nvPr/>
        </p:nvSpPr>
        <p:spPr>
          <a:xfrm>
            <a:off x="713232" y="3767328"/>
            <a:ext cx="73152" cy="73152"/>
          </a:xfrm>
          <a:prstGeom prst="ellipse">
            <a:avLst/>
          </a:prstGeom>
          <a:solidFill>
            <a:srgbClr val="C5F26D"/>
          </a:solidFill>
          <a:ln w="12700">
            <a:solidFill>
              <a:srgbClr val="C5F26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7824" y="3694176"/>
            <a:ext cx="516636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F6F2E8"/>
                </a:solidFill>
              </a:rPr>
              <a:t>Gap is expected because our runs used only 10 epochs.</a:t>
            </a:r>
            <a:endParaRPr lang="en-US" sz="1380" dirty="0"/>
          </a:p>
        </p:txBody>
      </p:sp>
      <p:sp>
        <p:nvSpPr>
          <p:cNvPr id="16" name="Text 14"/>
          <p:cNvSpPr/>
          <p:nvPr/>
        </p:nvSpPr>
        <p:spPr>
          <a:xfrm>
            <a:off x="6446520" y="1207008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F6F2E8"/>
                </a:solidFill>
              </a:rPr>
              <a:t>Paper Ensemble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7818120" y="1170432"/>
            <a:ext cx="2286000" cy="201168"/>
          </a:xfrm>
          <a:prstGeom prst="roundRect">
            <a:avLst>
              <a:gd name="adj" fmla="val 18182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18120" y="1170432"/>
            <a:ext cx="2118265" cy="201168"/>
          </a:xfrm>
          <a:prstGeom prst="roundRect">
            <a:avLst>
              <a:gd name="adj" fmla="val 18182"/>
            </a:avLst>
          </a:prstGeom>
          <a:solidFill>
            <a:srgbClr val="8FE1AE"/>
          </a:solidFill>
          <a:ln w="12700">
            <a:solidFill>
              <a:srgbClr val="8FE1A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241280" y="1197864"/>
            <a:ext cx="5669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5F26D"/>
                </a:solidFill>
              </a:rPr>
              <a:t>74.13%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446520" y="1709928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F6F2E8"/>
                </a:solidFill>
              </a:rPr>
              <a:t>Paper ResNet50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7818120" y="1673352"/>
            <a:ext cx="2286000" cy="201168"/>
          </a:xfrm>
          <a:prstGeom prst="roundRect">
            <a:avLst>
              <a:gd name="adj" fmla="val 18182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818120" y="1673352"/>
            <a:ext cx="2022824" cy="201168"/>
          </a:xfrm>
          <a:prstGeom prst="roundRect">
            <a:avLst>
              <a:gd name="adj" fmla="val 18182"/>
            </a:avLst>
          </a:prstGeom>
          <a:solidFill>
            <a:srgbClr val="8FE1AE"/>
          </a:solidFill>
          <a:ln w="12700">
            <a:solidFill>
              <a:srgbClr val="8FE1A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241280" y="1700784"/>
            <a:ext cx="5669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5F26D"/>
                </a:solidFill>
              </a:rPr>
              <a:t>70.79%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446520" y="2212848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F6F2E8"/>
                </a:solidFill>
              </a:rPr>
              <a:t>Our ResNet50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7818120" y="2176272"/>
            <a:ext cx="2286000" cy="201168"/>
          </a:xfrm>
          <a:prstGeom prst="roundRect">
            <a:avLst>
              <a:gd name="adj" fmla="val 18182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818120" y="2176272"/>
            <a:ext cx="1942814" cy="201168"/>
          </a:xfrm>
          <a:prstGeom prst="roundRect">
            <a:avLst>
              <a:gd name="adj" fmla="val 18182"/>
            </a:avLst>
          </a:prstGeom>
          <a:solidFill>
            <a:srgbClr val="8FE1AE"/>
          </a:solidFill>
          <a:ln w="12700">
            <a:solidFill>
              <a:srgbClr val="8FE1A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241280" y="2203704"/>
            <a:ext cx="5669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5F26D"/>
                </a:solidFill>
              </a:rPr>
              <a:t>67.99%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446520" y="2715768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F6F2E8"/>
                </a:solidFill>
              </a:rPr>
              <a:t>Our FPN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7818120" y="2679192"/>
            <a:ext cx="2286000" cy="201168"/>
          </a:xfrm>
          <a:prstGeom prst="roundRect">
            <a:avLst>
              <a:gd name="adj" fmla="val 18182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818120" y="2679192"/>
            <a:ext cx="1882807" cy="201168"/>
          </a:xfrm>
          <a:prstGeom prst="roundRect">
            <a:avLst>
              <a:gd name="adj" fmla="val 18182"/>
            </a:avLst>
          </a:prstGeom>
          <a:solidFill>
            <a:srgbClr val="8FE1AE"/>
          </a:solidFill>
          <a:ln w="12700">
            <a:solidFill>
              <a:srgbClr val="8FE1A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241280" y="2706624"/>
            <a:ext cx="5669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5F26D"/>
                </a:solidFill>
              </a:rPr>
              <a:t>65.89%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446520" y="3218688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F6F2E8"/>
                </a:solidFill>
              </a:rPr>
              <a:t>Our AlexNet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7818120" y="3182112"/>
            <a:ext cx="2286000" cy="201168"/>
          </a:xfrm>
          <a:prstGeom prst="roundRect">
            <a:avLst>
              <a:gd name="adj" fmla="val 18182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818120" y="3182112"/>
            <a:ext cx="1722501" cy="201168"/>
          </a:xfrm>
          <a:prstGeom prst="roundRect">
            <a:avLst>
              <a:gd name="adj" fmla="val 18182"/>
            </a:avLst>
          </a:prstGeom>
          <a:solidFill>
            <a:srgbClr val="8FE1AE"/>
          </a:solidFill>
          <a:ln w="12700">
            <a:solidFill>
              <a:srgbClr val="8FE1A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241280" y="3209544"/>
            <a:ext cx="5669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5F26D"/>
                </a:solidFill>
              </a:rPr>
              <a:t>60.28%</a:t>
            </a:r>
            <a:endParaRPr lang="en-US" sz="800" dirty="0"/>
          </a:p>
        </p:txBody>
      </p:sp>
    </p:spTree>
  </p:cSld>
  <p:transition spd="med">
    <p:fade/>
  </p:transition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71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C16"/>
          </a:solidFill>
          <a:ln w="12700">
            <a:solidFill>
              <a:srgbClr val="071C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0">
            <a:off x="-914400" y="0"/>
            <a:ext cx="5669280" cy="6858000"/>
          </a:xfrm>
          <a:prstGeom prst="chevron">
            <a:avLst/>
          </a:prstGeom>
          <a:solidFill>
            <a:srgbClr val="0B6B49">
              <a:alpha val="32000"/>
            </a:srgbClr>
          </a:solidFill>
          <a:ln w="12700">
            <a:solidFill>
              <a:srgbClr val="0B6B4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-1280160"/>
            <a:ext cx="4754880" cy="4754880"/>
          </a:xfrm>
          <a:prstGeom prst="arc">
            <a:avLst/>
          </a:prstGeom>
          <a:solidFill>
            <a:srgbClr val="8FE1AE">
              <a:alpha val="12000"/>
            </a:srgbClr>
          </a:solidFill>
          <a:ln w="12700">
            <a:solidFill>
              <a:srgbClr val="8FE1AE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2918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FE1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 Comparison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0652760" y="32918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B6C9BE"/>
                </a:solidFill>
              </a:rPr>
              <a:t>16 / 20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40080" y="914400"/>
            <a:ext cx="5669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6F2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Comparison with paper on D0</a:t>
            </a:r>
            <a:endParaRPr lang="en-US" sz="3100" dirty="0"/>
          </a:p>
        </p:txBody>
      </p:sp>
      <p:sp>
        <p:nvSpPr>
          <p:cNvPr id="8" name="Shape 6"/>
          <p:cNvSpPr/>
          <p:nvPr/>
        </p:nvSpPr>
        <p:spPr>
          <a:xfrm>
            <a:off x="713232" y="2587752"/>
            <a:ext cx="73152" cy="73152"/>
          </a:xfrm>
          <a:prstGeom prst="ellipse">
            <a:avLst/>
          </a:prstGeom>
          <a:solidFill>
            <a:srgbClr val="C5F26D"/>
          </a:solidFill>
          <a:ln w="12700">
            <a:solidFill>
              <a:srgbClr val="C5F26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7824" y="2514600"/>
            <a:ext cx="516636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F6F2E8"/>
                </a:solidFill>
              </a:rPr>
              <a:t>Paper FPN result: 99.23%.</a:t>
            </a:r>
            <a:endParaRPr lang="en-US" sz="1380" dirty="0"/>
          </a:p>
        </p:txBody>
      </p:sp>
      <p:sp>
        <p:nvSpPr>
          <p:cNvPr id="10" name="Shape 8"/>
          <p:cNvSpPr/>
          <p:nvPr/>
        </p:nvSpPr>
        <p:spPr>
          <a:xfrm>
            <a:off x="713232" y="2980944"/>
            <a:ext cx="73152" cy="73152"/>
          </a:xfrm>
          <a:prstGeom prst="ellipse">
            <a:avLst/>
          </a:prstGeom>
          <a:solidFill>
            <a:srgbClr val="C5F26D"/>
          </a:solidFill>
          <a:ln w="12700">
            <a:solidFill>
              <a:srgbClr val="C5F26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7824" y="2907792"/>
            <a:ext cx="516636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F6F2E8"/>
                </a:solidFill>
              </a:rPr>
              <a:t>Our FPN result: 99.11%.</a:t>
            </a:r>
            <a:endParaRPr lang="en-US" sz="1380" dirty="0"/>
          </a:p>
        </p:txBody>
      </p:sp>
      <p:sp>
        <p:nvSpPr>
          <p:cNvPr id="12" name="Shape 10"/>
          <p:cNvSpPr/>
          <p:nvPr/>
        </p:nvSpPr>
        <p:spPr>
          <a:xfrm>
            <a:off x="713232" y="3374136"/>
            <a:ext cx="73152" cy="73152"/>
          </a:xfrm>
          <a:prstGeom prst="ellipse">
            <a:avLst/>
          </a:prstGeom>
          <a:solidFill>
            <a:srgbClr val="C5F26D"/>
          </a:solidFill>
          <a:ln w="12700">
            <a:solidFill>
              <a:srgbClr val="C5F26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77824" y="3300984"/>
            <a:ext cx="516636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F6F2E8"/>
                </a:solidFill>
              </a:rPr>
              <a:t>Gap is only 0.12 percentage points.</a:t>
            </a:r>
            <a:endParaRPr lang="en-US" sz="1380" dirty="0"/>
          </a:p>
        </p:txBody>
      </p:sp>
      <p:sp>
        <p:nvSpPr>
          <p:cNvPr id="14" name="Shape 12"/>
          <p:cNvSpPr/>
          <p:nvPr/>
        </p:nvSpPr>
        <p:spPr>
          <a:xfrm>
            <a:off x="713232" y="3767328"/>
            <a:ext cx="73152" cy="73152"/>
          </a:xfrm>
          <a:prstGeom prst="ellipse">
            <a:avLst/>
          </a:prstGeom>
          <a:solidFill>
            <a:srgbClr val="C5F26D"/>
          </a:solidFill>
          <a:ln w="12700">
            <a:solidFill>
              <a:srgbClr val="C5F26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7824" y="3694176"/>
            <a:ext cx="516636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F6F2E8"/>
                </a:solidFill>
              </a:rPr>
              <a:t>D0 validates that our FPN implementation is strong.</a:t>
            </a:r>
            <a:endParaRPr lang="en-US" sz="1380" dirty="0"/>
          </a:p>
        </p:txBody>
      </p:sp>
      <p:sp>
        <p:nvSpPr>
          <p:cNvPr id="16" name="Text 14"/>
          <p:cNvSpPr/>
          <p:nvPr/>
        </p:nvSpPr>
        <p:spPr>
          <a:xfrm>
            <a:off x="6446520" y="1207008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F6F2E8"/>
                </a:solidFill>
              </a:rPr>
              <a:t>Paper Ensemble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7818120" y="1170432"/>
            <a:ext cx="2286000" cy="201168"/>
          </a:xfrm>
          <a:prstGeom prst="roundRect">
            <a:avLst>
              <a:gd name="adj" fmla="val 18182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18120" y="1170432"/>
            <a:ext cx="2280971" cy="201168"/>
          </a:xfrm>
          <a:prstGeom prst="roundRect">
            <a:avLst>
              <a:gd name="adj" fmla="val 18182"/>
            </a:avLst>
          </a:prstGeom>
          <a:solidFill>
            <a:srgbClr val="8FE1AE"/>
          </a:solidFill>
          <a:ln w="12700">
            <a:solidFill>
              <a:srgbClr val="8FE1A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241280" y="1197864"/>
            <a:ext cx="5669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5F26D"/>
                </a:solidFill>
              </a:rPr>
              <a:t>99.78%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446520" y="1709928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F6F2E8"/>
                </a:solidFill>
              </a:rPr>
              <a:t>Paper FPN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7818120" y="1673352"/>
            <a:ext cx="2286000" cy="201168"/>
          </a:xfrm>
          <a:prstGeom prst="roundRect">
            <a:avLst>
              <a:gd name="adj" fmla="val 18182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818120" y="1673352"/>
            <a:ext cx="2268398" cy="201168"/>
          </a:xfrm>
          <a:prstGeom prst="roundRect">
            <a:avLst>
              <a:gd name="adj" fmla="val 18182"/>
            </a:avLst>
          </a:prstGeom>
          <a:solidFill>
            <a:srgbClr val="8FE1AE"/>
          </a:solidFill>
          <a:ln w="12700">
            <a:solidFill>
              <a:srgbClr val="8FE1A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241280" y="1700784"/>
            <a:ext cx="5669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5F26D"/>
                </a:solidFill>
              </a:rPr>
              <a:t>99.23%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446520" y="2212848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F6F2E8"/>
                </a:solidFill>
              </a:rPr>
              <a:t>Our FPN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7818120" y="2176272"/>
            <a:ext cx="2286000" cy="201168"/>
          </a:xfrm>
          <a:prstGeom prst="roundRect">
            <a:avLst>
              <a:gd name="adj" fmla="val 18182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818120" y="2176272"/>
            <a:ext cx="2265655" cy="201168"/>
          </a:xfrm>
          <a:prstGeom prst="roundRect">
            <a:avLst>
              <a:gd name="adj" fmla="val 18182"/>
            </a:avLst>
          </a:prstGeom>
          <a:solidFill>
            <a:srgbClr val="8FE1AE"/>
          </a:solidFill>
          <a:ln w="12700">
            <a:solidFill>
              <a:srgbClr val="8FE1A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241280" y="2203704"/>
            <a:ext cx="5669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5F26D"/>
                </a:solidFill>
              </a:rPr>
              <a:t>99.11%</a:t>
            </a:r>
            <a:endParaRPr lang="en-US" sz="800" dirty="0"/>
          </a:p>
        </p:txBody>
      </p:sp>
    </p:spTree>
  </p:cSld>
  <p:transition spd="med">
    <p:push dir="l"/>
  </p:transition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71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C16"/>
          </a:solidFill>
          <a:ln w="12700">
            <a:solidFill>
              <a:srgbClr val="071C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0">
            <a:off x="-914400" y="0"/>
            <a:ext cx="5669280" cy="6858000"/>
          </a:xfrm>
          <a:prstGeom prst="chevron">
            <a:avLst/>
          </a:prstGeom>
          <a:solidFill>
            <a:srgbClr val="0B6B49">
              <a:alpha val="32000"/>
            </a:srgbClr>
          </a:solidFill>
          <a:ln w="12700">
            <a:solidFill>
              <a:srgbClr val="0B6B4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-1280160"/>
            <a:ext cx="4754880" cy="4754880"/>
          </a:xfrm>
          <a:prstGeom prst="arc">
            <a:avLst/>
          </a:prstGeom>
          <a:solidFill>
            <a:srgbClr val="8FE1AE">
              <a:alpha val="12000"/>
            </a:srgbClr>
          </a:solidFill>
          <a:ln w="12700">
            <a:solidFill>
              <a:srgbClr val="8FE1AE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2918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FE1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Deployment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0652760" y="32918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B6C9BE"/>
                </a:solidFill>
              </a:rPr>
              <a:t>17 / 20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40080" y="914400"/>
            <a:ext cx="5669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6F2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Streamlit deployment</a:t>
            </a:r>
            <a:endParaRPr lang="en-US" sz="3100" dirty="0"/>
          </a:p>
        </p:txBody>
      </p:sp>
      <p:sp>
        <p:nvSpPr>
          <p:cNvPr id="8" name="Shape 6"/>
          <p:cNvSpPr/>
          <p:nvPr/>
        </p:nvSpPr>
        <p:spPr>
          <a:xfrm>
            <a:off x="713232" y="2587752"/>
            <a:ext cx="73152" cy="73152"/>
          </a:xfrm>
          <a:prstGeom prst="ellipse">
            <a:avLst/>
          </a:prstGeom>
          <a:solidFill>
            <a:srgbClr val="C5F26D"/>
          </a:solidFill>
          <a:ln w="12700">
            <a:solidFill>
              <a:srgbClr val="C5F26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7824" y="2514600"/>
            <a:ext cx="516636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F6F2E8"/>
                </a:solidFill>
              </a:rPr>
              <a:t>Web app link prepared for image upload.</a:t>
            </a:r>
            <a:endParaRPr lang="en-US" sz="1380" dirty="0"/>
          </a:p>
        </p:txBody>
      </p:sp>
      <p:sp>
        <p:nvSpPr>
          <p:cNvPr id="10" name="Shape 8"/>
          <p:cNvSpPr/>
          <p:nvPr/>
        </p:nvSpPr>
        <p:spPr>
          <a:xfrm>
            <a:off x="713232" y="2980944"/>
            <a:ext cx="73152" cy="73152"/>
          </a:xfrm>
          <a:prstGeom prst="ellipse">
            <a:avLst/>
          </a:prstGeom>
          <a:solidFill>
            <a:srgbClr val="C5F26D"/>
          </a:solidFill>
          <a:ln w="12700">
            <a:solidFill>
              <a:srgbClr val="C5F26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7824" y="2907792"/>
            <a:ext cx="516636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F6F2E8"/>
                </a:solidFill>
              </a:rPr>
              <a:t>Expected flow: upload image, run model, show prediction.</a:t>
            </a:r>
            <a:endParaRPr lang="en-US" sz="1380" dirty="0"/>
          </a:p>
        </p:txBody>
      </p:sp>
      <p:sp>
        <p:nvSpPr>
          <p:cNvPr id="12" name="Shape 10"/>
          <p:cNvSpPr/>
          <p:nvPr/>
        </p:nvSpPr>
        <p:spPr>
          <a:xfrm>
            <a:off x="713232" y="3374136"/>
            <a:ext cx="73152" cy="73152"/>
          </a:xfrm>
          <a:prstGeom prst="ellipse">
            <a:avLst/>
          </a:prstGeom>
          <a:solidFill>
            <a:srgbClr val="C5F26D"/>
          </a:solidFill>
          <a:ln w="12700">
            <a:solidFill>
              <a:srgbClr val="C5F26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77824" y="3300984"/>
            <a:ext cx="516636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F6F2E8"/>
                </a:solidFill>
              </a:rPr>
              <a:t>GitHub project link is reachable.</a:t>
            </a:r>
            <a:endParaRPr lang="en-US" sz="1380" dirty="0"/>
          </a:p>
        </p:txBody>
      </p:sp>
      <p:sp>
        <p:nvSpPr>
          <p:cNvPr id="14" name="Shape 12"/>
          <p:cNvSpPr/>
          <p:nvPr/>
        </p:nvSpPr>
        <p:spPr>
          <a:xfrm>
            <a:off x="713232" y="3767328"/>
            <a:ext cx="73152" cy="73152"/>
          </a:xfrm>
          <a:prstGeom prst="ellipse">
            <a:avLst/>
          </a:prstGeom>
          <a:solidFill>
            <a:srgbClr val="C5F26D"/>
          </a:solidFill>
          <a:ln w="12700">
            <a:solidFill>
              <a:srgbClr val="C5F26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7824" y="3694176"/>
            <a:ext cx="516636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F6F2E8"/>
                </a:solidFill>
              </a:rPr>
              <a:t>Automated Streamlit check redirected to login/auth, so final image upload test should be done in a browser session.</a:t>
            </a:r>
            <a:endParaRPr lang="en-US" sz="1380" dirty="0"/>
          </a:p>
        </p:txBody>
      </p:sp>
      <p:sp>
        <p:nvSpPr>
          <p:cNvPr id="16" name="Shape 14"/>
          <p:cNvSpPr/>
          <p:nvPr/>
        </p:nvSpPr>
        <p:spPr>
          <a:xfrm>
            <a:off x="6537960" y="1133856"/>
            <a:ext cx="4297680" cy="548640"/>
          </a:xfrm>
          <a:prstGeom prst="roundRect">
            <a:avLst>
              <a:gd name="adj" fmla="val 13333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8FE1AE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02552" y="1261872"/>
            <a:ext cx="292608" cy="292608"/>
          </a:xfrm>
          <a:prstGeom prst="ellipse">
            <a:avLst/>
          </a:prstGeom>
          <a:solidFill>
            <a:srgbClr val="8FE1AE"/>
          </a:solidFill>
          <a:ln w="12700">
            <a:solidFill>
              <a:srgbClr val="8FE1A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02552" y="1325880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71C16"/>
                </a:solidFill>
              </a:rPr>
              <a:t>1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7132320" y="1298448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F6F2E8"/>
                </a:solidFill>
              </a:rPr>
              <a:t>Upload</a:t>
            </a:r>
            <a:endParaRPr lang="en-US" sz="1280" dirty="0"/>
          </a:p>
        </p:txBody>
      </p:sp>
      <p:sp>
        <p:nvSpPr>
          <p:cNvPr id="20" name="Shape 18"/>
          <p:cNvSpPr/>
          <p:nvPr/>
        </p:nvSpPr>
        <p:spPr>
          <a:xfrm>
            <a:off x="6537960" y="1993392"/>
            <a:ext cx="4297680" cy="548640"/>
          </a:xfrm>
          <a:prstGeom prst="roundRect">
            <a:avLst>
              <a:gd name="adj" fmla="val 13333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8FE1AE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02552" y="2121408"/>
            <a:ext cx="292608" cy="292608"/>
          </a:xfrm>
          <a:prstGeom prst="ellipse">
            <a:avLst/>
          </a:prstGeom>
          <a:solidFill>
            <a:srgbClr val="8FE1AE"/>
          </a:solidFill>
          <a:ln w="12700">
            <a:solidFill>
              <a:srgbClr val="8FE1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02552" y="2185416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71C16"/>
                </a:solidFill>
              </a:rPr>
              <a:t>2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7132320" y="2157984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F6F2E8"/>
                </a:solidFill>
              </a:rPr>
              <a:t>Predict</a:t>
            </a:r>
            <a:endParaRPr lang="en-US" sz="1280" dirty="0"/>
          </a:p>
        </p:txBody>
      </p:sp>
      <p:sp>
        <p:nvSpPr>
          <p:cNvPr id="24" name="Shape 22"/>
          <p:cNvSpPr/>
          <p:nvPr/>
        </p:nvSpPr>
        <p:spPr>
          <a:xfrm>
            <a:off x="6537960" y="2852928"/>
            <a:ext cx="4297680" cy="548640"/>
          </a:xfrm>
          <a:prstGeom prst="roundRect">
            <a:avLst>
              <a:gd name="adj" fmla="val 13333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8FE1AE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702552" y="2980944"/>
            <a:ext cx="292608" cy="292608"/>
          </a:xfrm>
          <a:prstGeom prst="ellipse">
            <a:avLst/>
          </a:prstGeom>
          <a:solidFill>
            <a:srgbClr val="8FE1AE"/>
          </a:solidFill>
          <a:ln w="12700">
            <a:solidFill>
              <a:srgbClr val="8FE1A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02552" y="3044952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71C16"/>
                </a:solidFill>
              </a:rPr>
              <a:t>3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7132320" y="301752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F6F2E8"/>
                </a:solidFill>
              </a:rPr>
              <a:t>Confidence</a:t>
            </a:r>
            <a:endParaRPr lang="en-US" sz="1280" dirty="0"/>
          </a:p>
        </p:txBody>
      </p:sp>
      <p:sp>
        <p:nvSpPr>
          <p:cNvPr id="28" name="Shape 26"/>
          <p:cNvSpPr/>
          <p:nvPr/>
        </p:nvSpPr>
        <p:spPr>
          <a:xfrm>
            <a:off x="6537960" y="3712464"/>
            <a:ext cx="4297680" cy="548640"/>
          </a:xfrm>
          <a:prstGeom prst="roundRect">
            <a:avLst>
              <a:gd name="adj" fmla="val 13333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8FE1AE">
                <a:alpha val="4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702552" y="3840480"/>
            <a:ext cx="292608" cy="292608"/>
          </a:xfrm>
          <a:prstGeom prst="ellipse">
            <a:avLst/>
          </a:prstGeom>
          <a:solidFill>
            <a:srgbClr val="8FE1AE"/>
          </a:solidFill>
          <a:ln w="12700">
            <a:solidFill>
              <a:srgbClr val="8FE1A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02552" y="3904488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71C16"/>
                </a:solidFill>
              </a:rPr>
              <a:t>4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7132320" y="3877056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F6F2E8"/>
                </a:solidFill>
              </a:rPr>
              <a:t>Top class</a:t>
            </a:r>
            <a:endParaRPr lang="en-US" sz="1280" dirty="0"/>
          </a:p>
        </p:txBody>
      </p:sp>
      <p:sp>
        <p:nvSpPr>
          <p:cNvPr id="32" name="Text 30">
            <a:hlinkClick r:id="rId1" tooltip=""/>
          </p:cNvPr>
          <p:cNvSpPr/>
          <p:nvPr/>
        </p:nvSpPr>
        <p:spPr>
          <a:xfrm>
            <a:off x="749808" y="5815584"/>
            <a:ext cx="822960" cy="146304"/>
          </a:xfrm>
          <a:prstGeom prst="rect">
            <a:avLst/>
          </a:prstGeom>
          <a:solidFill>
            <a:srgbClr val="8FE1AE"/>
          </a:solidFill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800" b="1" u="sng" dirty="0">
                <a:solidFill>
                  <a:srgbClr val="071C16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Source link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709928" y="5815584"/>
            <a:ext cx="4343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B6C9BE"/>
                </a:solidFill>
              </a:rPr>
              <a:t>https://abdelrahmansa04-insect-pest-classification-app-ap6y2v.streamlit.app/</a:t>
            </a:r>
            <a:endParaRPr lang="en-US" sz="680" dirty="0"/>
          </a:p>
        </p:txBody>
      </p:sp>
    </p:spTree>
  </p:cSld>
  <p:transition spd="med">
    <p:wipe dir="l"/>
  </p:transition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71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C16"/>
          </a:solidFill>
          <a:ln w="12700">
            <a:solidFill>
              <a:srgbClr val="071C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0">
            <a:off x="-914400" y="0"/>
            <a:ext cx="5669280" cy="6858000"/>
          </a:xfrm>
          <a:prstGeom prst="chevron">
            <a:avLst/>
          </a:prstGeom>
          <a:solidFill>
            <a:srgbClr val="0B6B49">
              <a:alpha val="32000"/>
            </a:srgbClr>
          </a:solidFill>
          <a:ln w="12700">
            <a:solidFill>
              <a:srgbClr val="0B6B4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-1280160"/>
            <a:ext cx="4754880" cy="4754880"/>
          </a:xfrm>
          <a:prstGeom prst="arc">
            <a:avLst/>
          </a:prstGeom>
          <a:solidFill>
            <a:srgbClr val="8FE1AE">
              <a:alpha val="12000"/>
            </a:srgbClr>
          </a:solidFill>
          <a:ln w="12700">
            <a:solidFill>
              <a:srgbClr val="8FE1AE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2918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FE1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Defense Notes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0652760" y="32918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B6C9BE"/>
                </a:solidFill>
              </a:rPr>
              <a:t>18 / 20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40080" y="914400"/>
            <a:ext cx="5669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6F2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to say in the defense</a:t>
            </a:r>
            <a:endParaRPr lang="en-US" sz="3100" dirty="0"/>
          </a:p>
        </p:txBody>
      </p:sp>
      <p:sp>
        <p:nvSpPr>
          <p:cNvPr id="8" name="Shape 6"/>
          <p:cNvSpPr/>
          <p:nvPr/>
        </p:nvSpPr>
        <p:spPr>
          <a:xfrm>
            <a:off x="713232" y="2587752"/>
            <a:ext cx="73152" cy="73152"/>
          </a:xfrm>
          <a:prstGeom prst="ellipse">
            <a:avLst/>
          </a:prstGeom>
          <a:solidFill>
            <a:srgbClr val="C5F26D"/>
          </a:solidFill>
          <a:ln w="12700">
            <a:solidFill>
              <a:srgbClr val="C5F26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7824" y="2514600"/>
            <a:ext cx="516636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F6F2E8"/>
                </a:solidFill>
              </a:rPr>
              <a:t>We studied the paper and reproduced the main model ideas.</a:t>
            </a:r>
            <a:endParaRPr lang="en-US" sz="1380" dirty="0"/>
          </a:p>
        </p:txBody>
      </p:sp>
      <p:sp>
        <p:nvSpPr>
          <p:cNvPr id="10" name="Shape 8"/>
          <p:cNvSpPr/>
          <p:nvPr/>
        </p:nvSpPr>
        <p:spPr>
          <a:xfrm>
            <a:off x="713232" y="2980944"/>
            <a:ext cx="73152" cy="73152"/>
          </a:xfrm>
          <a:prstGeom prst="ellipse">
            <a:avLst/>
          </a:prstGeom>
          <a:solidFill>
            <a:srgbClr val="C5F26D"/>
          </a:solidFill>
          <a:ln w="12700">
            <a:solidFill>
              <a:srgbClr val="C5F26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7824" y="2907792"/>
            <a:ext cx="516636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F6F2E8"/>
                </a:solidFill>
              </a:rPr>
              <a:t>Our best IP102 completed result is ResNet50.</a:t>
            </a:r>
            <a:endParaRPr lang="en-US" sz="1380" dirty="0"/>
          </a:p>
        </p:txBody>
      </p:sp>
      <p:sp>
        <p:nvSpPr>
          <p:cNvPr id="12" name="Shape 10"/>
          <p:cNvSpPr/>
          <p:nvPr/>
        </p:nvSpPr>
        <p:spPr>
          <a:xfrm>
            <a:off x="713232" y="3374136"/>
            <a:ext cx="73152" cy="73152"/>
          </a:xfrm>
          <a:prstGeom prst="ellipse">
            <a:avLst/>
          </a:prstGeom>
          <a:solidFill>
            <a:srgbClr val="C5F26D"/>
          </a:solidFill>
          <a:ln w="12700">
            <a:solidFill>
              <a:srgbClr val="C5F26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77824" y="3300984"/>
            <a:ext cx="516636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F6F2E8"/>
                </a:solidFill>
              </a:rPr>
              <a:t>Our D0 FPN result is very close to the paper.</a:t>
            </a:r>
            <a:endParaRPr lang="en-US" sz="1380" dirty="0"/>
          </a:p>
        </p:txBody>
      </p:sp>
      <p:sp>
        <p:nvSpPr>
          <p:cNvPr id="14" name="Shape 12"/>
          <p:cNvSpPr/>
          <p:nvPr/>
        </p:nvSpPr>
        <p:spPr>
          <a:xfrm>
            <a:off x="713232" y="3767328"/>
            <a:ext cx="73152" cy="73152"/>
          </a:xfrm>
          <a:prstGeom prst="ellipse">
            <a:avLst/>
          </a:prstGeom>
          <a:solidFill>
            <a:srgbClr val="C5F26D"/>
          </a:solidFill>
          <a:ln w="12700">
            <a:solidFill>
              <a:srgbClr val="C5F26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7824" y="3694176"/>
            <a:ext cx="516636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F6F2E8"/>
                </a:solidFill>
              </a:rPr>
              <a:t>Future work: finish RAN/MMAL metrics and add ensemble voting.</a:t>
            </a:r>
            <a:endParaRPr lang="en-US" sz="1380" dirty="0"/>
          </a:p>
        </p:txBody>
      </p:sp>
      <p:sp>
        <p:nvSpPr>
          <p:cNvPr id="16" name="Shape 14"/>
          <p:cNvSpPr/>
          <p:nvPr/>
        </p:nvSpPr>
        <p:spPr>
          <a:xfrm>
            <a:off x="6537960" y="1133856"/>
            <a:ext cx="4297680" cy="548640"/>
          </a:xfrm>
          <a:prstGeom prst="roundRect">
            <a:avLst>
              <a:gd name="adj" fmla="val 13333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8FE1AE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02552" y="1261872"/>
            <a:ext cx="292608" cy="292608"/>
          </a:xfrm>
          <a:prstGeom prst="ellipse">
            <a:avLst/>
          </a:prstGeom>
          <a:solidFill>
            <a:srgbClr val="8FE1AE"/>
          </a:solidFill>
          <a:ln w="12700">
            <a:solidFill>
              <a:srgbClr val="8FE1A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02552" y="1325880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71C16"/>
                </a:solidFill>
              </a:rPr>
              <a:t>1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7132320" y="1298448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F6F2E8"/>
                </a:solidFill>
              </a:rPr>
              <a:t>Paper idea</a:t>
            </a:r>
            <a:endParaRPr lang="en-US" sz="1280" dirty="0"/>
          </a:p>
        </p:txBody>
      </p:sp>
      <p:sp>
        <p:nvSpPr>
          <p:cNvPr id="20" name="Shape 18"/>
          <p:cNvSpPr/>
          <p:nvPr/>
        </p:nvSpPr>
        <p:spPr>
          <a:xfrm>
            <a:off x="6537960" y="1993392"/>
            <a:ext cx="4297680" cy="548640"/>
          </a:xfrm>
          <a:prstGeom prst="roundRect">
            <a:avLst>
              <a:gd name="adj" fmla="val 13333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8FE1AE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02552" y="2121408"/>
            <a:ext cx="292608" cy="292608"/>
          </a:xfrm>
          <a:prstGeom prst="ellipse">
            <a:avLst/>
          </a:prstGeom>
          <a:solidFill>
            <a:srgbClr val="8FE1AE"/>
          </a:solidFill>
          <a:ln w="12700">
            <a:solidFill>
              <a:srgbClr val="8FE1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02552" y="2185416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71C16"/>
                </a:solidFill>
              </a:rPr>
              <a:t>2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7132320" y="2157984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F6F2E8"/>
                </a:solidFill>
              </a:rPr>
              <a:t>Our runs</a:t>
            </a:r>
            <a:endParaRPr lang="en-US" sz="1280" dirty="0"/>
          </a:p>
        </p:txBody>
      </p:sp>
      <p:sp>
        <p:nvSpPr>
          <p:cNvPr id="24" name="Shape 22"/>
          <p:cNvSpPr/>
          <p:nvPr/>
        </p:nvSpPr>
        <p:spPr>
          <a:xfrm>
            <a:off x="6537960" y="2852928"/>
            <a:ext cx="4297680" cy="548640"/>
          </a:xfrm>
          <a:prstGeom prst="roundRect">
            <a:avLst>
              <a:gd name="adj" fmla="val 13333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8FE1AE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702552" y="2980944"/>
            <a:ext cx="292608" cy="292608"/>
          </a:xfrm>
          <a:prstGeom prst="ellipse">
            <a:avLst/>
          </a:prstGeom>
          <a:solidFill>
            <a:srgbClr val="8FE1AE"/>
          </a:solidFill>
          <a:ln w="12700">
            <a:solidFill>
              <a:srgbClr val="8FE1A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02552" y="3044952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71C16"/>
                </a:solidFill>
              </a:rPr>
              <a:t>3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7132320" y="301752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F6F2E8"/>
                </a:solidFill>
              </a:rPr>
              <a:t>Comparison</a:t>
            </a:r>
            <a:endParaRPr lang="en-US" sz="1280" dirty="0"/>
          </a:p>
        </p:txBody>
      </p:sp>
      <p:sp>
        <p:nvSpPr>
          <p:cNvPr id="28" name="Shape 26"/>
          <p:cNvSpPr/>
          <p:nvPr/>
        </p:nvSpPr>
        <p:spPr>
          <a:xfrm>
            <a:off x="6537960" y="3712464"/>
            <a:ext cx="4297680" cy="548640"/>
          </a:xfrm>
          <a:prstGeom prst="roundRect">
            <a:avLst>
              <a:gd name="adj" fmla="val 13333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8FE1AE">
                <a:alpha val="4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702552" y="3840480"/>
            <a:ext cx="292608" cy="292608"/>
          </a:xfrm>
          <a:prstGeom prst="ellipse">
            <a:avLst/>
          </a:prstGeom>
          <a:solidFill>
            <a:srgbClr val="8FE1AE"/>
          </a:solidFill>
          <a:ln w="12700">
            <a:solidFill>
              <a:srgbClr val="8FE1A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02552" y="3904488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71C16"/>
                </a:solidFill>
              </a:rPr>
              <a:t>4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7132320" y="3877056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F6F2E8"/>
                </a:solidFill>
              </a:rPr>
              <a:t>Next work</a:t>
            </a:r>
            <a:endParaRPr lang="en-US" sz="1280" dirty="0"/>
          </a:p>
        </p:txBody>
      </p:sp>
    </p:spTree>
  </p:cSld>
  <p:transition spd="med">
    <p:fade/>
  </p:transition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71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C16"/>
          </a:solidFill>
          <a:ln w="12700">
            <a:solidFill>
              <a:srgbClr val="071C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0">
            <a:off x="-914400" y="0"/>
            <a:ext cx="5669280" cy="6858000"/>
          </a:xfrm>
          <a:prstGeom prst="chevron">
            <a:avLst/>
          </a:prstGeom>
          <a:solidFill>
            <a:srgbClr val="0B6B49">
              <a:alpha val="32000"/>
            </a:srgbClr>
          </a:solidFill>
          <a:ln w="12700">
            <a:solidFill>
              <a:srgbClr val="0B6B4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-1280160"/>
            <a:ext cx="4754880" cy="4754880"/>
          </a:xfrm>
          <a:prstGeom prst="arc">
            <a:avLst/>
          </a:prstGeom>
          <a:solidFill>
            <a:srgbClr val="8FE1AE">
              <a:alpha val="12000"/>
            </a:srgbClr>
          </a:solidFill>
          <a:ln w="12700">
            <a:solidFill>
              <a:srgbClr val="8FE1AE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2918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FE1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0652760" y="32918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B6C9BE"/>
                </a:solidFill>
              </a:rPr>
              <a:t>19 / 20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40080" y="914400"/>
            <a:ext cx="5669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6F2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links</a:t>
            </a:r>
            <a:endParaRPr lang="en-US" sz="3100" dirty="0"/>
          </a:p>
        </p:txBody>
      </p:sp>
      <p:sp>
        <p:nvSpPr>
          <p:cNvPr id="8" name="Shape 6"/>
          <p:cNvSpPr/>
          <p:nvPr/>
        </p:nvSpPr>
        <p:spPr>
          <a:xfrm>
            <a:off x="713232" y="2587752"/>
            <a:ext cx="73152" cy="73152"/>
          </a:xfrm>
          <a:prstGeom prst="ellipse">
            <a:avLst/>
          </a:prstGeom>
          <a:solidFill>
            <a:srgbClr val="C5F26D"/>
          </a:solidFill>
          <a:ln w="12700">
            <a:solidFill>
              <a:srgbClr val="C5F26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7824" y="2514600"/>
            <a:ext cx="516636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F6F2E8"/>
                </a:solidFill>
              </a:rPr>
              <a:t>Paper repository</a:t>
            </a:r>
            <a:endParaRPr lang="en-US" sz="1380" dirty="0"/>
          </a:p>
        </p:txBody>
      </p:sp>
      <p:sp>
        <p:nvSpPr>
          <p:cNvPr id="10" name="Shape 8"/>
          <p:cNvSpPr/>
          <p:nvPr/>
        </p:nvSpPr>
        <p:spPr>
          <a:xfrm>
            <a:off x="713232" y="2980944"/>
            <a:ext cx="73152" cy="73152"/>
          </a:xfrm>
          <a:prstGeom prst="ellipse">
            <a:avLst/>
          </a:prstGeom>
          <a:solidFill>
            <a:srgbClr val="C5F26D"/>
          </a:solidFill>
          <a:ln w="12700">
            <a:solidFill>
              <a:srgbClr val="C5F26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7824" y="2907792"/>
            <a:ext cx="516636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F6F2E8"/>
                </a:solidFill>
              </a:rPr>
              <a:t>Our GitHub repository</a:t>
            </a:r>
            <a:endParaRPr lang="en-US" sz="1380" dirty="0"/>
          </a:p>
        </p:txBody>
      </p:sp>
      <p:sp>
        <p:nvSpPr>
          <p:cNvPr id="12" name="Shape 10"/>
          <p:cNvSpPr/>
          <p:nvPr/>
        </p:nvSpPr>
        <p:spPr>
          <a:xfrm>
            <a:off x="713232" y="3374136"/>
            <a:ext cx="73152" cy="73152"/>
          </a:xfrm>
          <a:prstGeom prst="ellipse">
            <a:avLst/>
          </a:prstGeom>
          <a:solidFill>
            <a:srgbClr val="C5F26D"/>
          </a:solidFill>
          <a:ln w="12700">
            <a:solidFill>
              <a:srgbClr val="C5F26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77824" y="3300984"/>
            <a:ext cx="516636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F6F2E8"/>
                </a:solidFill>
              </a:rPr>
              <a:t>Streamlit deployment</a:t>
            </a:r>
            <a:endParaRPr lang="en-US" sz="1380" dirty="0"/>
          </a:p>
        </p:txBody>
      </p:sp>
      <p:sp>
        <p:nvSpPr>
          <p:cNvPr id="14" name="Shape 12"/>
          <p:cNvSpPr/>
          <p:nvPr/>
        </p:nvSpPr>
        <p:spPr>
          <a:xfrm>
            <a:off x="713232" y="3767328"/>
            <a:ext cx="73152" cy="73152"/>
          </a:xfrm>
          <a:prstGeom prst="ellipse">
            <a:avLst/>
          </a:prstGeom>
          <a:solidFill>
            <a:srgbClr val="C5F26D"/>
          </a:solidFill>
          <a:ln w="12700">
            <a:solidFill>
              <a:srgbClr val="C5F26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7824" y="3694176"/>
            <a:ext cx="516636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F6F2E8"/>
                </a:solidFill>
              </a:rPr>
              <a:t>Colab and Kaggle notebooks</a:t>
            </a:r>
            <a:endParaRPr lang="en-US" sz="1380" dirty="0"/>
          </a:p>
        </p:txBody>
      </p:sp>
      <p:sp>
        <p:nvSpPr>
          <p:cNvPr id="16" name="Shape 14"/>
          <p:cNvSpPr/>
          <p:nvPr/>
        </p:nvSpPr>
        <p:spPr>
          <a:xfrm>
            <a:off x="6400800" y="1051560"/>
            <a:ext cx="4389120" cy="475488"/>
          </a:xfrm>
          <a:prstGeom prst="roundRect">
            <a:avLst>
              <a:gd name="adj" fmla="val 11538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8FE1AE">
                <a:alpha val="45000"/>
              </a:srgbClr>
            </a:solidFill>
            <a:prstDash val="solid"/>
          </a:ln>
        </p:spPr>
      </p:sp>
      <p:sp>
        <p:nvSpPr>
          <p:cNvPr id="17" name="Text 15">
            <a:hlinkClick r:id="rId1" tooltip=""/>
          </p:cNvPr>
          <p:cNvSpPr/>
          <p:nvPr/>
        </p:nvSpPr>
        <p:spPr>
          <a:xfrm>
            <a:off x="6601968" y="1207008"/>
            <a:ext cx="3749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u="sng" dirty="0">
                <a:solidFill>
                  <a:srgbClr val="F6F2E8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Paper GitHub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00800" y="1801368"/>
            <a:ext cx="4389120" cy="475488"/>
          </a:xfrm>
          <a:prstGeom prst="roundRect">
            <a:avLst>
              <a:gd name="adj" fmla="val 11538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8FE1AE">
                <a:alpha val="45000"/>
              </a:srgbClr>
            </a:solidFill>
            <a:prstDash val="solid"/>
          </a:ln>
        </p:spPr>
      </p:sp>
      <p:sp>
        <p:nvSpPr>
          <p:cNvPr id="19" name="Text 17">
            <a:hlinkClick r:id="rId2" tooltip=""/>
          </p:cNvPr>
          <p:cNvSpPr/>
          <p:nvPr/>
        </p:nvSpPr>
        <p:spPr>
          <a:xfrm>
            <a:off x="6601968" y="1956816"/>
            <a:ext cx="3749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u="sng" dirty="0">
                <a:solidFill>
                  <a:srgbClr val="F6F2E8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Our GitHub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00800" y="2551176"/>
            <a:ext cx="4389120" cy="475488"/>
          </a:xfrm>
          <a:prstGeom prst="roundRect">
            <a:avLst>
              <a:gd name="adj" fmla="val 11538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8FE1AE">
                <a:alpha val="45000"/>
              </a:srgbClr>
            </a:solidFill>
            <a:prstDash val="solid"/>
          </a:ln>
        </p:spPr>
      </p:sp>
      <p:sp>
        <p:nvSpPr>
          <p:cNvPr id="21" name="Text 19">
            <a:hlinkClick r:id="rId3" tooltip=""/>
          </p:cNvPr>
          <p:cNvSpPr/>
          <p:nvPr/>
        </p:nvSpPr>
        <p:spPr>
          <a:xfrm>
            <a:off x="6601968" y="2706624"/>
            <a:ext cx="3749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u="sng" dirty="0">
                <a:solidFill>
                  <a:srgbClr val="F6F2E8"/>
                </a:solidFill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Streamlit App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400800" y="3300984"/>
            <a:ext cx="4389120" cy="475488"/>
          </a:xfrm>
          <a:prstGeom prst="roundRect">
            <a:avLst>
              <a:gd name="adj" fmla="val 11538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8FE1AE">
                <a:alpha val="45000"/>
              </a:srgbClr>
            </a:solidFill>
            <a:prstDash val="solid"/>
          </a:ln>
        </p:spPr>
      </p:sp>
      <p:sp>
        <p:nvSpPr>
          <p:cNvPr id="23" name="Text 21">
            <a:hlinkClick r:id="rId4" tooltip=""/>
          </p:cNvPr>
          <p:cNvSpPr/>
          <p:nvPr/>
        </p:nvSpPr>
        <p:spPr>
          <a:xfrm>
            <a:off x="6601968" y="3456432"/>
            <a:ext cx="3749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u="sng" dirty="0">
                <a:solidFill>
                  <a:srgbClr val="F6F2E8"/>
                </a:solidFill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Paper arXiv</a:t>
            </a:r>
            <a:endParaRPr lang="en-US" sz="1050" dirty="0"/>
          </a:p>
        </p:txBody>
      </p:sp>
    </p:spTree>
  </p:cSld>
  <p:transition spd="med">
    <p:push dir="l"/>
  </p:transition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71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C16"/>
          </a:solidFill>
          <a:ln w="12700">
            <a:solidFill>
              <a:srgbClr val="071C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0">
            <a:off x="-914400" y="0"/>
            <a:ext cx="5669280" cy="6858000"/>
          </a:xfrm>
          <a:prstGeom prst="chevron">
            <a:avLst/>
          </a:prstGeom>
          <a:solidFill>
            <a:srgbClr val="0B6B49">
              <a:alpha val="32000"/>
            </a:srgbClr>
          </a:solidFill>
          <a:ln w="12700">
            <a:solidFill>
              <a:srgbClr val="0B6B4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-1280160"/>
            <a:ext cx="4754880" cy="4754880"/>
          </a:xfrm>
          <a:prstGeom prst="arc">
            <a:avLst/>
          </a:prstGeom>
          <a:solidFill>
            <a:srgbClr val="8FE1AE">
              <a:alpha val="12000"/>
            </a:srgbClr>
          </a:solidFill>
          <a:ln w="12700">
            <a:solidFill>
              <a:srgbClr val="8FE1AE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2918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FE1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0652760" y="32918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B6C9BE"/>
                </a:solidFill>
              </a:rPr>
              <a:t>20 / 20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31520" y="224028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6F2E8"/>
                </a:solidFill>
              </a:rPr>
              <a:t>Thank You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731520" y="297180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5F26D"/>
                </a:solidFill>
              </a:rPr>
              <a:t>Questions?</a:t>
            </a:r>
            <a:endParaRPr lang="en-US" sz="2800" dirty="0"/>
          </a:p>
        </p:txBody>
      </p:sp>
    </p:spTree>
  </p:cSld>
  <p:transition spd="med">
    <p:wipe dir="l"/>
  </p:transition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Insect Pest Classification Using Deep Learning</dc:title>
  <dc:subject>Insect pest classification graduation defense</dc:subject>
  <dc:creator>Codex</dc:creator>
  <cp:lastModifiedBy>Codex</cp:lastModifiedBy>
  <cp:revision>1</cp:revision>
  <dcterms:created xsi:type="dcterms:W3CDTF">2026-05-09T10:32:51Z</dcterms:created>
  <dcterms:modified xsi:type="dcterms:W3CDTF">2026-05-09T10:32:51Z</dcterms:modified>
</cp:coreProperties>
</file>