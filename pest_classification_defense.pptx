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project as a smart agriculture system that turns an insect image into a reliable class prediction. Mention that the defense will move from problem and data to models, results, deployment, and future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pest classification matters economically and practically. Keep the point simple: early recognition helps farmers respond before damage spreads.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fine-grained nature of the task: many classes look similar, while one class can look different across angle, maturity stage, and background.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goals as measurable deliverables: model comparison, accuracy improvement, and deployment rather than only model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IP102 as the main dataset. Point out the challenge: many classes, imbalanced data, and subtle visual differences.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transformation pipeline. Emphasize that augmentation helps the model generalize to real field images.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map of the whole system. Each later architecture slide explains one model block inside this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residual learning in intuitive terms: instead of learning the full mapping, the block learns the residual change and keeps useful information flowing.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why FPN is useful for pest images: insects can appear small, so multi-scale features can help retain relevant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equation: F(x) is the trunk feature map and M(x) is an attention mask. Adding 1 means attention enhances features without fully suppressing the original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MMAL-Net as the model designed for fine-grained classification, where small parts such as wings, patterns, or body regions may separate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soft voting keeps confidence information, not just final class labels. The final class is selected from the averaged probabilities.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batch size and learning rate if your notebook used specific values. Mention checkpointing and best validation accuracy selection.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two training curves to discuss learning behavior. ResNet50 ended slightly higher on validation accuracy than the FPN run in the supplied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best validation accuracy from the separate test metric block you provided. Mention that Top-5 prediction display helps users see close alternatives.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application workflow: user uploads an insect image, preprocessing runs, the model predicts class probabilities, and the UI shows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show engineering maturity. Challenges are normal; what matters is how you managed checkpoints, tracked experiments, and simplified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future work as practical extensions: stronger models, faster inference, and field-ready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as a full pipeline, not just an experiment. Close by tying model performance back to agricultural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Be ready to answer why ResNet50 was chosen, how soft voting works, and what caused differences between baseline and FPN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Graduation Project Defense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01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594360" y="914400"/>
            <a:ext cx="69037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Learning-Based Insect Pest Classification</a:t>
            </a:r>
            <a:endParaRPr lang="en-US" sz="3700" dirty="0"/>
          </a:p>
        </p:txBody>
      </p:sp>
      <p:sp>
        <p:nvSpPr>
          <p:cNvPr id="9" name="Text 7"/>
          <p:cNvSpPr/>
          <p:nvPr/>
        </p:nvSpPr>
        <p:spPr>
          <a:xfrm>
            <a:off x="594360" y="2414016"/>
            <a:ext cx="649224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9DDC7"/>
                </a:solidFill>
              </a:rPr>
              <a:t>Using ResNet50, FPN, Attention Networks, MMAL-Net, and Ensemble Learning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8368" y="477316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ADC"/>
                </a:solidFill>
              </a:rPr>
              <a:t>Student: [Student Name]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" y="5084064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ADC"/>
                </a:solidFill>
              </a:rPr>
              <a:t>Supervisor: [Supervisor Name]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539496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ADC"/>
                </a:solidFill>
              </a:rPr>
              <a:t>University: [University Name]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" y="5705856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8EADC"/>
                </a:solidFill>
              </a:rPr>
              <a:t>Department: [Department Name]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18120" y="1097280"/>
            <a:ext cx="315468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82712" y="12435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82712" y="12984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412480" y="126187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Image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818120" y="2029968"/>
            <a:ext cx="315468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82712" y="21762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82712" y="22311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412480" y="21945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CNN features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138160" y="26700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818120" y="2962656"/>
            <a:ext cx="315468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82712" y="31089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82712" y="31638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412480" y="3127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Attention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38160" y="3602736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818120" y="3895344"/>
            <a:ext cx="315468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82712" y="4041648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82712" y="4096512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412480" y="40599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Ensemble</a:t>
            </a:r>
            <a:endParaRPr lang="en-US" sz="1350" dirty="0"/>
          </a:p>
        </p:txBody>
      </p:sp>
    </p:spTree>
  </p:cSld>
  <p:transition spd="med">
    <p:push dir="l"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Context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02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Agriculture needs fast, reliable pest recognition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Pests reduce crop quality and yield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Early identification supports timely treatment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Manual inspection is slow and specialist-dependent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Computer vision can scale field diagnosis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Crop health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Pest pressure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Yield risk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Smart action</a:t>
            </a:r>
            <a:endParaRPr lang="en-US" sz="1350" dirty="0"/>
          </a:p>
        </p:txBody>
      </p:sp>
    </p:spTree>
  </p:cSld>
  <p:transition spd="med">
    <p:wipe dir="l"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Problem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03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insect identification is hard to scale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Fine-grained visual similarity between species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Large appearance variation across life stages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Lighting, pose, and background noise in images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Need for an automated AI-based solution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Similarity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Variation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Noise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AI solution</a:t>
            </a:r>
            <a:endParaRPr lang="en-US" sz="1350" dirty="0"/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Objectives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04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Build an intelligent insect classification system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Improve recognition accuracy using deep features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Compare ResNet50, FPN, RAN, MMAL-Net, and ensemble learning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Deploy a practical application for image upload and prediction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Build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Improve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Compare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Deploy</a:t>
            </a:r>
            <a:endParaRPr lang="en-US" sz="1350" dirty="0"/>
          </a:p>
        </p:txBody>
      </p:sp>
    </p:spTree>
  </p:cSld>
  <p:transition spd="med">
    <p:push dir="l"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Dataset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05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IP102: large-scale insect pest benchmark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Natural long-tailed class distribution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Multiple crop groups and pest categories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Suitable for fine-grained pest recognition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46520" y="132588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Classes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78240" y="132588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75,222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7824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Images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46520" y="242316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~19K boxes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46520" y="3017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Detection labels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78240" y="242316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Train / Val / Test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778240" y="3017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Split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102 classes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75,222 images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Long tail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Fine-grained</a:t>
            </a:r>
            <a:endParaRPr lang="en-US" sz="1350" dirty="0"/>
          </a:p>
        </p:txBody>
      </p:sp>
    </p:spTree>
  </p:cSld>
  <p:transition spd="med">
    <p:wipe dir="l"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Data Pipeline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06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Preprocessing prepares images for robust training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Resize images to model input size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Normalize RGB channels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Apply augmentation during training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Use PyTorch transforms for reproducible preprocessing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Resize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Normalize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Augment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Tensor</a:t>
            </a:r>
            <a:endParaRPr lang="en-US" sz="1350" dirty="0"/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System Workflow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07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classification pipeline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914400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5F4EA">
              <a:alpha val="10000"/>
            </a:srgbClr>
          </a:solidFill>
          <a:ln w="12700">
            <a:solidFill>
              <a:srgbClr val="8BD3A7">
                <a:alpha val="58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2889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D3A7"/>
                </a:solidFill>
              </a:rPr>
              <a:t>01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078992" y="31272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4EA"/>
                </a:solidFill>
              </a:rPr>
              <a:t>Input Image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79776" y="3182112"/>
            <a:ext cx="237744" cy="0"/>
          </a:xfrm>
          <a:prstGeom prst="line">
            <a:avLst/>
          </a:prstGeom>
          <a:noFill/>
          <a:ln w="17780">
            <a:solidFill>
              <a:srgbClr val="B7E86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054096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5F4EA">
              <a:alpha val="10000"/>
            </a:srgbClr>
          </a:solidFill>
          <a:ln w="12700">
            <a:solidFill>
              <a:srgbClr val="8BD3A7">
                <a:alpha val="58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2889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D3A7"/>
                </a:solidFill>
              </a:rPr>
              <a:t>02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18688" y="31272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4EA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19472" y="3182112"/>
            <a:ext cx="237744" cy="0"/>
          </a:xfrm>
          <a:prstGeom prst="line">
            <a:avLst/>
          </a:prstGeom>
          <a:noFill/>
          <a:ln w="17780">
            <a:solidFill>
              <a:srgbClr val="B7E86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93792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5F4EA">
              <a:alpha val="10000"/>
            </a:srgbClr>
          </a:solidFill>
          <a:ln w="12700">
            <a:solidFill>
              <a:srgbClr val="8BD3A7">
                <a:alpha val="58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21808" y="2889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D3A7"/>
                </a:solidFill>
              </a:rPr>
              <a:t>03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358384" y="31272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4EA"/>
                </a:solidFill>
              </a:rPr>
              <a:t>Deep Models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59168" y="3182112"/>
            <a:ext cx="237744" cy="0"/>
          </a:xfrm>
          <a:prstGeom prst="line">
            <a:avLst/>
          </a:prstGeom>
          <a:noFill/>
          <a:ln w="17780">
            <a:solidFill>
              <a:srgbClr val="B7E86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33488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5F4EA">
              <a:alpha val="10000"/>
            </a:srgbClr>
          </a:solidFill>
          <a:ln w="12700">
            <a:solidFill>
              <a:srgbClr val="8BD3A7">
                <a:alpha val="5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1504" y="2889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D3A7"/>
                </a:solidFill>
              </a:rPr>
              <a:t>04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498080" y="31272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4EA"/>
                </a:solidFill>
              </a:rPr>
              <a:t>Soft Voting Ensemble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98864" y="3182112"/>
            <a:ext cx="237744" cy="0"/>
          </a:xfrm>
          <a:prstGeom prst="line">
            <a:avLst/>
          </a:prstGeom>
          <a:noFill/>
          <a:ln w="17780">
            <a:solidFill>
              <a:srgbClr val="B7E86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473184" y="2743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5F4EA">
              <a:alpha val="10000"/>
            </a:srgbClr>
          </a:solidFill>
          <a:ln w="12700">
            <a:solidFill>
              <a:srgbClr val="8BD3A7">
                <a:alpha val="58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0" y="288950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D3A7"/>
                </a:solidFill>
              </a:rPr>
              <a:t>05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637776" y="312724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4EA"/>
                </a:solidFill>
              </a:rPr>
              <a:t>Final Prediction</a:t>
            </a:r>
            <a:endParaRPr lang="en-US" sz="1200" dirty="0"/>
          </a:p>
        </p:txBody>
      </p:sp>
    </p:spTree>
  </p:cSld>
  <p:transition spd="med">
    <p:push dir="l"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Model A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08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ResNet50 learns deeper features with residual connections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Residual blocks pass information through skip connections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Skip paths reduce vanishing gradient issues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Pretrained ImageNet features improve transfer learning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Strong baseline for image classification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Input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Conv stem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Residual blocks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Classifier</a:t>
            </a:r>
            <a:endParaRPr lang="en-US" sz="1350" dirty="0"/>
          </a:p>
        </p:txBody>
      </p:sp>
    </p:spTree>
  </p:cSld>
  <p:transition spd="med">
    <p:wipe dir="l"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Model B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09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FPN adds multi-scale feature reasoning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Combines high-level semantics with low-level spatial detail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Top-down pathway strengthens smaller object features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Lateral connections preserve resolution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Useful when insects occupy small image regions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Backbone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Top-down path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Lateral links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Multi-scale maps</a:t>
            </a:r>
            <a:endParaRPr lang="en-US" sz="1350" dirty="0"/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Attention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10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Residual Attention Network focuses the feature stream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Trunk branch extracts normal CNN features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Mask branch learns soft attention weights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Attention highlights informative insect regions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Residual attention keeps original signal available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" y="50749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E86D"/>
                </a:solidFill>
              </a:rPr>
              <a:t>H(x) = (1 + M(x)) x F(x)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Input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Trunk F(x)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Mask M(x)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Attention output</a:t>
            </a:r>
            <a:endParaRPr lang="en-US" sz="1350" dirty="0"/>
          </a:p>
        </p:txBody>
      </p:sp>
    </p:spTree>
  </p:cSld>
  <p:transition spd="med">
    <p:push dir="l"/>
  </p:transition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Fine-Grained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11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MMAL-Net targets fine-grained insect differences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AOLM localizes the attention object region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APPM proposes discriminative insect parts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Raw branch captures global context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Object and part branches refine fine details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Raw branch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AOLM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APPM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Parts branch</a:t>
            </a:r>
            <a:endParaRPr lang="en-US" sz="1350" dirty="0"/>
          </a:p>
        </p:txBody>
      </p:sp>
    </p:spTree>
  </p:cSld>
  <p:transition spd="med">
    <p:wipe dir="l"/>
  </p:transition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Ensemble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12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 voting combines model confidence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Average probability vectors from trained models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Reduces dependence on one architecture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Balances global, multi-scale, and attention features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Improves robustness for ambiguous samples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" y="50749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7E86D"/>
                </a:solidFill>
              </a:rPr>
              <a:t>P = (P1 + P2 + P3 + P4) / 4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ResNet50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FPN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RAN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MMAL-Net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949440" y="4517136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629400" y="4809744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93992" y="4956048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93992" y="5010912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5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7223760" y="4974336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Soft vote</a:t>
            </a:r>
            <a:endParaRPr lang="en-US" sz="1350" dirty="0"/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Training Setup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13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environment and hyperparameters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6492240" y="1444752"/>
            <a:ext cx="4251960" cy="0"/>
          </a:xfrm>
          <a:prstGeom prst="line">
            <a:avLst/>
          </a:prstGeom>
          <a:noFill/>
          <a:ln w="8890">
            <a:solidFill>
              <a:srgbClr val="8BD3A7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1247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BD3A7"/>
                </a:solidFill>
              </a:rPr>
              <a:t>Platform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092440" y="11247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4EA"/>
                </a:solidFill>
              </a:rPr>
              <a:t>Google Colab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92240" y="1901952"/>
            <a:ext cx="4251960" cy="0"/>
          </a:xfrm>
          <a:prstGeom prst="line">
            <a:avLst/>
          </a:prstGeom>
          <a:noFill/>
          <a:ln w="8890">
            <a:solidFill>
              <a:srgbClr val="8BD3A7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5819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BD3A7"/>
                </a:solidFill>
              </a:rPr>
              <a:t>GPU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092440" y="15819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4EA"/>
                </a:solidFill>
              </a:rPr>
              <a:t>NVIDIA T4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92240" y="2359152"/>
            <a:ext cx="4251960" cy="0"/>
          </a:xfrm>
          <a:prstGeom prst="line">
            <a:avLst/>
          </a:prstGeom>
          <a:noFill/>
          <a:ln w="8890">
            <a:solidFill>
              <a:srgbClr val="8BD3A7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0391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BD3A7"/>
                </a:solidFill>
              </a:rPr>
              <a:t>Batch size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9244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4EA"/>
                </a:solidFill>
              </a:rPr>
              <a:t>[Set value]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6492240" y="2816352"/>
            <a:ext cx="4251960" cy="0"/>
          </a:xfrm>
          <a:prstGeom prst="line">
            <a:avLst/>
          </a:prstGeom>
          <a:noFill/>
          <a:ln w="8890">
            <a:solidFill>
              <a:srgbClr val="8BD3A7">
                <a:alpha val="2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4963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BD3A7"/>
                </a:solidFill>
              </a:rPr>
              <a:t>Learning rate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92440" y="24963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4EA"/>
                </a:solidFill>
              </a:rPr>
              <a:t>[Set value]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6492240" y="3273552"/>
            <a:ext cx="4251960" cy="0"/>
          </a:xfrm>
          <a:prstGeom prst="line">
            <a:avLst/>
          </a:prstGeom>
          <a:noFill/>
          <a:ln w="8890">
            <a:solidFill>
              <a:srgbClr val="8BD3A7">
                <a:alpha val="2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9535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BD3A7"/>
                </a:solidFill>
              </a:rPr>
              <a:t>Optimizer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92440" y="29535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4EA"/>
                </a:solidFill>
              </a:rPr>
              <a:t>Adam / SGD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92240" y="3730752"/>
            <a:ext cx="4251960" cy="0"/>
          </a:xfrm>
          <a:prstGeom prst="line">
            <a:avLst/>
          </a:prstGeom>
          <a:noFill/>
          <a:ln w="8890">
            <a:solidFill>
              <a:srgbClr val="8BD3A7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4107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BD3A7"/>
                </a:solidFill>
              </a:rPr>
              <a:t>Epochs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092440" y="34107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4EA"/>
                </a:solidFill>
              </a:rPr>
              <a:t>10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6492240" y="4187952"/>
            <a:ext cx="4251960" cy="0"/>
          </a:xfrm>
          <a:prstGeom prst="line">
            <a:avLst/>
          </a:prstGeom>
          <a:noFill/>
          <a:ln w="8890">
            <a:solidFill>
              <a:srgbClr val="8BD3A7">
                <a:alpha val="2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8679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8BD3A7"/>
                </a:solidFill>
              </a:rPr>
              <a:t>Loss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92440" y="386791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5F4EA"/>
                </a:solidFill>
              </a:rPr>
              <a:t>Cross-Entropy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583680" y="4480560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48272" y="462686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48272" y="468172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178040" y="46451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Google Colab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903720" y="512064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583680" y="5413248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48272" y="555955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48272" y="561441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7178040" y="55778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NVIDIA T4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903720" y="605332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583680" y="6345936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48272" y="649224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48272" y="654710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178040" y="65105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10 epochs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6903720" y="6986016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583680" y="727862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748272" y="7424928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8272" y="7479792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178040" y="744321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Best checkpoint</a:t>
            </a:r>
            <a:endParaRPr lang="en-US" sz="1350" dirty="0"/>
          </a:p>
        </p:txBody>
      </p:sp>
    </p:spTree>
  </p:cSld>
  <p:transition spd="med">
    <p:push dir="l"/>
  </p:transition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Experimental Results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14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Baseline and FPN models show steady learning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ResNet50 best validation accuracy: 67.99%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ResNet50 + FPN best validation accuracy: 65.89%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Training accuracy increases across epochs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Validation curves show generalization gap near the end</a:t>
            </a:r>
            <a:endParaRPr lang="en-US" sz="1500" dirty="0"/>
          </a:p>
        </p:txBody>
      </p:sp>
      <p:pic>
        <p:nvPicPr>
          <p:cNvPr id="17" name="Image 0" descr="C:\Users\Lenovo\Documents\Codex\2026-05-07\pest_project\resnet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7648" y="1078992"/>
            <a:ext cx="5074920" cy="2304288"/>
          </a:xfrm>
          <a:prstGeom prst="rect">
            <a:avLst/>
          </a:prstGeom>
        </p:spPr>
      </p:pic>
      <p:pic>
        <p:nvPicPr>
          <p:cNvPr id="18" name="Image 1" descr="C:\Users\Lenovo\Documents\Codex\2026-05-07\pest_project\fpn+resn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3694176"/>
            <a:ext cx="5074920" cy="2304288"/>
          </a:xfrm>
          <a:prstGeom prst="rect">
            <a:avLst/>
          </a:prstGeom>
        </p:spPr>
      </p:pic>
    </p:spTree>
  </p:cSld>
  <p:transition spd="med">
    <p:wipe dir="l"/>
  </p:transition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Best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15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 completed run: ResNet50 validation accuracy 67.99%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Best validation checkpoint at epoch 10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Useful baseline for later ensemble comparison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Top-5 predictions can support transparent model output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46520" y="132588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0.6735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Accuracy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78240" y="132588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1463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0.6358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78240" y="192024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Precision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46520" y="242316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0.5780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46520" y="3017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Recall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78240" y="242316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25603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0.5879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778240" y="30175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F1-score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46520" y="123444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0.6735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46520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Accuracy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8778240" y="123444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1371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0.6358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778240" y="1828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Precision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233172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0.5780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446520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Recall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778240" y="2331720"/>
            <a:ext cx="1600200" cy="0"/>
          </a:xfrm>
          <a:prstGeom prst="line">
            <a:avLst/>
          </a:prstGeom>
          <a:noFill/>
          <a:ln w="17780">
            <a:solidFill>
              <a:srgbClr val="8BD3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2468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0.5879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778240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9DDC7"/>
                </a:solidFill>
              </a:rPr>
              <a:t>F1-score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37960" y="3794760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02552" y="394106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02552" y="399592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7132320" y="395935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Top-1 class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858000" y="443484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537960" y="4727448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02552" y="487375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02552" y="492861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7132320" y="48920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Top-5 alternatives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6858000" y="536752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37960" y="5660136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02552" y="580644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02552" y="586130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132320" y="5824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Confidence</a:t>
            </a:r>
            <a:endParaRPr lang="en-US" sz="1350" dirty="0"/>
          </a:p>
        </p:txBody>
      </p:sp>
    </p:spTree>
  </p:cSld>
  <p:transition spd="med">
    <p:fade/>
  </p:transition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Deployment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16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Streamlit turns the model into a usable application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Image upload interface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Real-time pest class prediction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Confidence score visualization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Top-5 class probabilities for decision support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0" y="1143000"/>
            <a:ext cx="4389120" cy="4434840"/>
          </a:xfrm>
          <a:prstGeom prst="roundRect">
            <a:avLst>
              <a:gd name="adj" fmla="val 2083"/>
            </a:avLst>
          </a:prstGeom>
          <a:solidFill>
            <a:srgbClr val="EFF7F0"/>
          </a:solidFill>
          <a:ln w="12700">
            <a:solidFill>
              <a:srgbClr val="D7E6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143000"/>
            <a:ext cx="4389120" cy="347472"/>
          </a:xfrm>
          <a:prstGeom prst="rect">
            <a:avLst/>
          </a:prstGeom>
          <a:solidFill>
            <a:srgbClr val="0E5A3C"/>
          </a:solidFill>
          <a:ln w="12700">
            <a:solidFill>
              <a:srgbClr val="0E5A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48272" y="1828800"/>
            <a:ext cx="367588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12864" y="197510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12864" y="202996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342632" y="1993392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Upload image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068312" y="246888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748272" y="2761488"/>
            <a:ext cx="367588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12864" y="290779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12864" y="296265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342632" y="2926080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Preview insect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7068312" y="340156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748272" y="3694176"/>
            <a:ext cx="367588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12864" y="384048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389534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342632" y="3858768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Predict class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068312" y="4334256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748272" y="4626864"/>
            <a:ext cx="367588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12864" y="4773168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12864" y="4828032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342632" y="4791456"/>
            <a:ext cx="2898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Confidence scores</a:t>
            </a:r>
            <a:endParaRPr lang="en-US" sz="1350" dirty="0"/>
          </a:p>
        </p:txBody>
      </p:sp>
    </p:spTree>
  </p:cSld>
  <p:transition spd="med">
    <p:push dir="l"/>
  </p:transition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Challenges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17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challenges during implementation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Google Colab disconnections during long runs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Large training time and GPU limits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Fine-grained similarity between pest classes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Checkpoint and experiment management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517136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443984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Deployment path and dependency issues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Runtime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Training time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Similarity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Deployment</a:t>
            </a:r>
            <a:endParaRPr lang="en-US" sz="1350" dirty="0"/>
          </a:p>
        </p:txBody>
      </p:sp>
    </p:spTree>
  </p:cSld>
  <p:transition spd="med">
    <p:wipe dir="l"/>
  </p:transition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Future Work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18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work can move the system closer to field use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Evaluate Vision Transformers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Optimize for mobile deployment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Add real-time pest detection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Explore Edge AI inference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517136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443984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Improve attention mechanisms and class balancing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ViT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Mobile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Detection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Edge AI</a:t>
            </a:r>
            <a:endParaRPr lang="en-US" sz="1350" dirty="0"/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Conclusion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19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621792" y="1078992"/>
            <a:ext cx="571500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5F4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Deep learning enables scalable pest classification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2834640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2761488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Built a complete image classification pipeline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13232" y="3255264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3182112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Compared baseline and enhanced model families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602736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Achieved strong completed baseline performance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23360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Prepared a deployable Streamlit user workflow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" y="4517136"/>
            <a:ext cx="73152" cy="73152"/>
          </a:xfrm>
          <a:prstGeom prst="ellipse">
            <a:avLst/>
          </a:prstGeom>
          <a:solidFill>
            <a:srgbClr val="B7E86D"/>
          </a:solidFill>
          <a:ln w="12700">
            <a:solidFill>
              <a:srgbClr val="B7E8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4443984"/>
            <a:ext cx="5349240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4EA"/>
                </a:solidFill>
              </a:rPr>
              <a:t>Supports smart agriculture decision-making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629400" y="1078992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3992" y="1225296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1280160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223760" y="1243584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Pipeline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949440" y="1719072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29400" y="2011680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93992" y="215798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221284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223760" y="2176272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Models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949440" y="265176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629400" y="2944368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93992" y="309067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93992" y="314553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223760" y="3108960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Results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949440" y="358444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629400" y="3877056"/>
            <a:ext cx="4315968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93992" y="402336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93992" y="407822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4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7223760" y="4041648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Application</a:t>
            </a:r>
            <a:endParaRPr lang="en-US" sz="1350" dirty="0"/>
          </a:p>
        </p:txBody>
      </p:sp>
    </p:spTree>
  </p:cSld>
  <p:transition spd="med">
    <p:push dir="l"/>
  </p:transition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F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8"/>
          </a:solidFill>
          <a:ln w="12700">
            <a:solidFill>
              <a:srgbClr val="0B1F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188720"/>
            <a:ext cx="5120640" cy="5120640"/>
          </a:xfrm>
          <a:prstGeom prst="arc">
            <a:avLst/>
          </a:prstGeom>
          <a:solidFill>
            <a:srgbClr val="8BD3A7">
              <a:alpha val="14000"/>
            </a:srgbClr>
          </a:solidFill>
          <a:ln w="12700">
            <a:solidFill>
              <a:srgbClr val="8BD3A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0">
            <a:off x="-1005840" y="0"/>
            <a:ext cx="5943600" cy="6858000"/>
          </a:xfrm>
          <a:prstGeom prst="chevron">
            <a:avLst/>
          </a:prstGeom>
          <a:solidFill>
            <a:srgbClr val="0E5A3C">
              <a:alpha val="32000"/>
            </a:srgbClr>
          </a:solidFill>
          <a:ln w="12700">
            <a:solidFill>
              <a:srgbClr val="0E5A3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926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D3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Questions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0744200" y="29260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9DDC7"/>
                </a:solidFill>
              </a:rPr>
              <a:t>20 /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30352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7B9AE">
                    <a:alpha val="70000"/>
                  </a:srgbClr>
                </a:solidFill>
              </a:rPr>
              <a:t>Deep Learning-Based Insect Pest Classification</a:t>
            </a:r>
            <a:endParaRPr lang="en-US" sz="72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4EA"/>
                </a:solidFill>
              </a:rPr>
              <a:t>Thank You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7E86D"/>
                </a:solidFill>
              </a:rPr>
              <a:t>Questions?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343400" y="3931920"/>
            <a:ext cx="35204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07992" y="4078224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4133088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1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937760" y="4096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Defense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63440" y="4572000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43400" y="4864608"/>
            <a:ext cx="35204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5010912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5065776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2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937760" y="5029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Discussion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663440" y="5504688"/>
            <a:ext cx="0" cy="274320"/>
          </a:xfrm>
          <a:prstGeom prst="line">
            <a:avLst/>
          </a:prstGeom>
          <a:noFill/>
          <a:ln w="15240">
            <a:solidFill>
              <a:srgbClr val="8BD3A7">
                <a:alpha val="6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43400" y="5797296"/>
            <a:ext cx="3520440" cy="603504"/>
          </a:xfrm>
          <a:prstGeom prst="roundRect">
            <a:avLst>
              <a:gd name="adj" fmla="val 9091"/>
            </a:avLst>
          </a:prstGeom>
          <a:solidFill>
            <a:srgbClr val="F5F4EA">
              <a:alpha val="9000"/>
            </a:srgbClr>
          </a:solidFill>
          <a:ln w="12700">
            <a:solidFill>
              <a:srgbClr val="8BD3A7">
                <a:alpha val="4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992" y="5943600"/>
            <a:ext cx="301752" cy="301752"/>
          </a:xfrm>
          <a:prstGeom prst="ellipse">
            <a:avLst/>
          </a:prstGeom>
          <a:solidFill>
            <a:srgbClr val="8BD3A7"/>
          </a:solidFill>
          <a:ln w="12700">
            <a:solidFill>
              <a:srgbClr val="8BD3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5998464"/>
            <a:ext cx="301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18"/>
                </a:solidFill>
              </a:rPr>
              <a:t>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937760" y="59618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5F4EA"/>
                </a:solidFill>
              </a:rPr>
              <a:t>Next steps</a:t>
            </a:r>
            <a:endParaRPr lang="en-US" sz="1350" dirty="0"/>
          </a:p>
        </p:txBody>
      </p:sp>
    </p:spTree>
  </p:cSld>
  <p:transition spd="med">
    <p:wipe dir="l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[University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Learning-Based Insect Pest Classification</dc:title>
  <dc:subject>Graduation project defense</dc:subject>
  <dc:creator>Codex</dc:creator>
  <cp:lastModifiedBy>Codex</cp:lastModifiedBy>
  <cp:revision>1</cp:revision>
  <dcterms:created xsi:type="dcterms:W3CDTF">2026-05-09T01:11:58Z</dcterms:created>
  <dcterms:modified xsi:type="dcterms:W3CDTF">2026-05-09T01:11:58Z</dcterms:modified>
</cp:coreProperties>
</file>